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459200" cy="9693275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67" d="100"/>
          <a:sy n="67" d="100"/>
        </p:scale>
        <p:origin x="66" y="111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 name="Simplified Figure 6 candi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 a background"/>
          <p:cNvSpPr/>
          <p:nvPr/>
        </p:nvSpPr>
        <p:spPr>
          <a:xfrm>
            <a:off x="1172816" y="526918"/>
            <a:ext cx="14174256" cy="4680000"/>
          </a:xfrm>
          <a:prstGeom prst="roundRect">
            <a:avLst>
              <a:gd name="adj" fmla="val 0"/>
            </a:avLst>
          </a:prstGeom>
          <a:solidFill>
            <a:srgbClr val="F7F8FA"/>
          </a:solidFill>
          <a:ln w="12700">
            <a:solidFill>
              <a:srgbClr val="C8CFD6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900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 </a:t>
            </a:r>
            <a:endParaRPr lang="en-US" sz="900" dirty="0"/>
          </a:p>
        </p:txBody>
      </p:sp>
      <p:sp>
        <p:nvSpPr>
          <p:cNvPr id="4" name="Panel a label"/>
          <p:cNvSpPr txBox="1"/>
          <p:nvPr/>
        </p:nvSpPr>
        <p:spPr>
          <a:xfrm>
            <a:off x="1355696" y="6549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(a)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5" name="Panel a title"/>
          <p:cNvSpPr txBox="1"/>
          <p:nvPr/>
        </p:nvSpPr>
        <p:spPr>
          <a:xfrm>
            <a:off x="1812896" y="654936"/>
            <a:ext cx="10800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Forecast routes and scope of gauge supervision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6" name="Field-first lane label"/>
          <p:cNvSpPr txBox="1"/>
          <p:nvPr/>
        </p:nvSpPr>
        <p:spPr>
          <a:xfrm>
            <a:off x="1419704" y="1569336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Field-first</a:t>
            </a:r>
            <a:endParaRPr lang="en-US" sz="14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7" name="Field radar history"/>
          <p:cNvSpPr/>
          <p:nvPr/>
        </p:nvSpPr>
        <p:spPr>
          <a:xfrm>
            <a:off x="2544776" y="1331592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Radar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history</a:t>
            </a:r>
            <a:endParaRPr lang="en-US" sz="1200" b="1" dirty="0"/>
          </a:p>
        </p:txBody>
      </p:sp>
      <p:sp>
        <p:nvSpPr>
          <p:cNvPr id="8" name="Field forecasters"/>
          <p:cNvSpPr/>
          <p:nvPr/>
        </p:nvSpPr>
        <p:spPr>
          <a:xfrm>
            <a:off x="5244776" y="1331592"/>
            <a:ext cx="1440000" cy="720000"/>
          </a:xfrm>
          <a:prstGeom prst="roundRect">
            <a:avLst/>
          </a:prstGeom>
          <a:solidFill>
            <a:srgbClr val="E2F1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pySTEPS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or exPreCast</a:t>
            </a:r>
            <a:endParaRPr lang="en-US" sz="1200" b="1" dirty="0"/>
          </a:p>
        </p:txBody>
      </p:sp>
      <p:sp>
        <p:nvSpPr>
          <p:cNvPr id="9" name="Forecast HSR"/>
          <p:cNvSpPr/>
          <p:nvPr/>
        </p:nvSpPr>
        <p:spPr>
          <a:xfrm>
            <a:off x="7944776" y="1331592"/>
            <a:ext cx="1440000" cy="720000"/>
          </a:xfrm>
          <a:prstGeom prst="roundRect">
            <a:avLst/>
          </a:prstGeom>
          <a:solidFill>
            <a:srgbClr val="E2F1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Forecast HSR</a:t>
            </a:r>
            <a:endParaRPr lang="en-US" sz="1200" b="1" dirty="0"/>
          </a:p>
        </p:txBody>
      </p:sp>
      <p:sp>
        <p:nvSpPr>
          <p:cNvPr id="10" name="CNN"/>
          <p:cNvSpPr/>
          <p:nvPr/>
        </p:nvSpPr>
        <p:spPr>
          <a:xfrm>
            <a:off x="10644776" y="1331592"/>
            <a:ext cx="1440000" cy="720000"/>
          </a:xfrm>
          <a:prstGeom prst="roundRect">
            <a:avLst/>
          </a:prstGeom>
          <a:solidFill>
            <a:srgbClr val="DDF3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CNN</a:t>
            </a:r>
            <a:endParaRPr lang="en-US" sz="1200" b="1" dirty="0"/>
          </a:p>
        </p:txBody>
      </p:sp>
      <p:sp>
        <p:nvSpPr>
          <p:cNvPr id="11" name="Field RN60 output"/>
          <p:cNvSpPr/>
          <p:nvPr/>
        </p:nvSpPr>
        <p:spPr>
          <a:xfrm>
            <a:off x="13344776" y="1331592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chemeClr val="bg2">
                <a:lumMod val="10000"/>
              </a:schemeClr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RN60</a:t>
            </a:r>
            <a:endParaRPr lang="en-US" sz="1200" b="1" dirty="0"/>
          </a:p>
        </p:txBody>
      </p:sp>
      <p:cxnSp>
        <p:nvCxnSpPr>
          <p:cNvPr id="12" name="Field radar to forecaster segment 1"/>
          <p:cNvCxnSpPr>
            <a:cxnSpLocks/>
            <a:stCxn id="7" idx="3"/>
            <a:endCxn id="8" idx="1"/>
          </p:cNvCxnSpPr>
          <p:nvPr/>
        </p:nvCxnSpPr>
        <p:spPr>
          <a:xfrm>
            <a:off x="3984776" y="1691592"/>
            <a:ext cx="126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13" name="Forecaster to HSR segment 1"/>
          <p:cNvCxnSpPr>
            <a:cxnSpLocks/>
            <a:stCxn id="8" idx="3"/>
            <a:endCxn id="9" idx="1"/>
          </p:cNvCxnSpPr>
          <p:nvPr/>
        </p:nvCxnSpPr>
        <p:spPr>
          <a:xfrm>
            <a:off x="66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cxnSp>
        <p:nvCxnSpPr>
          <p:cNvPr id="14" name="HSR to CNN segment 1"/>
          <p:cNvCxnSpPr>
            <a:cxnSpLocks/>
            <a:stCxn id="9" idx="3"/>
            <a:endCxn id="10" idx="1"/>
          </p:cNvCxnSpPr>
          <p:nvPr/>
        </p:nvCxnSpPr>
        <p:spPr>
          <a:xfrm>
            <a:off x="93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cxnSp>
        <p:nvCxnSpPr>
          <p:cNvPr id="15" name="CNN to RN60 segment 1"/>
          <p:cNvCxnSpPr>
            <a:cxnSpLocks/>
            <a:stCxn id="10" idx="3"/>
            <a:endCxn id="11" idx="1"/>
          </p:cNvCxnSpPr>
          <p:nvPr/>
        </p:nvCxnSpPr>
        <p:spPr>
          <a:xfrm>
            <a:off x="120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sp>
        <p:nvSpPr>
          <p:cNvPr id="16" name="Field gauge context"/>
          <p:cNvSpPr/>
          <p:nvPr/>
        </p:nvSpPr>
        <p:spPr>
          <a:xfrm>
            <a:off x="11724776" y="2412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Issuance-time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context</a:t>
            </a:r>
            <a:endParaRPr lang="en-US" sz="1200" b="1" dirty="0"/>
          </a:p>
        </p:txBody>
      </p:sp>
      <p:sp>
        <p:nvSpPr>
          <p:cNvPr id="18" name="Field historical gauge targets"/>
          <p:cNvSpPr/>
          <p:nvPr/>
        </p:nvSpPr>
        <p:spPr>
          <a:xfrm>
            <a:off x="9564776" y="2412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5EA7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Historical gauge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</p:txBody>
      </p:sp>
      <p:sp>
        <p:nvSpPr>
          <p:cNvPr id="23" name="Future HSR supervision"/>
          <p:cNvSpPr/>
          <p:nvPr/>
        </p:nvSpPr>
        <p:spPr>
          <a:xfrm>
            <a:off x="5244776" y="2268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8F7A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Future HSR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(exPreCast only)</a:t>
            </a:r>
            <a:endParaRPr lang="en-US" sz="1200" b="1" dirty="0"/>
          </a:p>
        </p:txBody>
      </p:sp>
      <p:cxnSp>
        <p:nvCxnSpPr>
          <p:cNvPr id="24" name="HSR supervision to exPreCast segment 1"/>
          <p:cNvCxnSpPr>
            <a:cxnSpLocks/>
            <a:stCxn id="23" idx="0"/>
            <a:endCxn id="8" idx="2"/>
          </p:cNvCxnSpPr>
          <p:nvPr/>
        </p:nvCxnSpPr>
        <p:spPr>
          <a:xfrm flipV="1">
            <a:off x="5964776" y="2051592"/>
            <a:ext cx="0" cy="216432"/>
          </a:xfrm>
          <a:prstGeom prst="line">
            <a:avLst/>
          </a:prstGeom>
          <a:ln w="19685">
            <a:solidFill>
              <a:srgbClr val="008F7A"/>
            </a:solidFill>
            <a:prstDash val="dash"/>
            <a:round/>
            <a:tailEnd type="triangle" w="med" len="med"/>
          </a:ln>
        </p:spPr>
      </p:cxnSp>
      <p:sp>
        <p:nvSpPr>
          <p:cNvPr id="25" name="Direct lane label"/>
          <p:cNvSpPr txBox="1"/>
          <p:nvPr/>
        </p:nvSpPr>
        <p:spPr>
          <a:xfrm>
            <a:off x="1419704" y="3370704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Direct</a:t>
            </a:r>
            <a:endParaRPr lang="en-US" sz="14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26" name="Direct radar history"/>
          <p:cNvSpPr/>
          <p:nvPr/>
        </p:nvSpPr>
        <p:spPr>
          <a:xfrm>
            <a:off x="2544776" y="3132960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Radar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history</a:t>
            </a:r>
            <a:endParaRPr lang="en-US" sz="1200" b="1" dirty="0"/>
          </a:p>
        </p:txBody>
      </p:sp>
      <p:sp>
        <p:nvSpPr>
          <p:cNvPr id="27" name="Direct R2P route"/>
          <p:cNvSpPr/>
          <p:nvPr/>
        </p:nvSpPr>
        <p:spPr>
          <a:xfrm>
            <a:off x="7944776" y="3132024"/>
            <a:ext cx="1440000" cy="72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6510">
            <a:solidFill>
              <a:schemeClr val="accent3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Direct R2P</a:t>
            </a:r>
            <a:endParaRPr lang="en-US" sz="1200" b="1" dirty="0"/>
          </a:p>
        </p:txBody>
      </p:sp>
      <p:sp>
        <p:nvSpPr>
          <p:cNvPr id="28" name="Direct RN60 output"/>
          <p:cNvSpPr/>
          <p:nvPr/>
        </p:nvSpPr>
        <p:spPr>
          <a:xfrm>
            <a:off x="13344776" y="3132960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chemeClr val="bg2">
                <a:lumMod val="10000"/>
              </a:schemeClr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RN60</a:t>
            </a:r>
            <a:endParaRPr lang="en-US" sz="1200" b="1" dirty="0"/>
          </a:p>
        </p:txBody>
      </p:sp>
      <p:cxnSp>
        <p:nvCxnSpPr>
          <p:cNvPr id="29" name="Direct radar to R2P segment 1"/>
          <p:cNvCxnSpPr>
            <a:cxnSpLocks/>
            <a:stCxn id="26" idx="3"/>
            <a:endCxn id="27" idx="1"/>
          </p:cNvCxnSpPr>
          <p:nvPr/>
        </p:nvCxnSpPr>
        <p:spPr>
          <a:xfrm flipV="1">
            <a:off x="3984776" y="3492024"/>
            <a:ext cx="3960000" cy="936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30" name="Direct R2P to RN60 segment 1"/>
          <p:cNvCxnSpPr>
            <a:cxnSpLocks/>
            <a:stCxn id="27" idx="3"/>
            <a:endCxn id="28" idx="1"/>
          </p:cNvCxnSpPr>
          <p:nvPr/>
        </p:nvCxnSpPr>
        <p:spPr>
          <a:xfrm>
            <a:off x="9384776" y="3492024"/>
            <a:ext cx="3960000" cy="936"/>
          </a:xfrm>
          <a:prstGeom prst="line">
            <a:avLst/>
          </a:prstGeom>
          <a:ln w="19685">
            <a:solidFill>
              <a:schemeClr val="accent3"/>
            </a:solidFill>
            <a:prstDash val="solid"/>
            <a:round/>
            <a:tailEnd type="triangle" w="med" len="med"/>
          </a:ln>
        </p:spPr>
      </p:cxnSp>
      <p:sp>
        <p:nvSpPr>
          <p:cNvPr id="31" name="Direct gauge context"/>
          <p:cNvSpPr/>
          <p:nvPr/>
        </p:nvSpPr>
        <p:spPr>
          <a:xfrm>
            <a:off x="9024776" y="4212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Issuance-time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context</a:t>
            </a:r>
            <a:endParaRPr lang="en-US" sz="1200" b="1" dirty="0"/>
          </a:p>
        </p:txBody>
      </p:sp>
      <p:sp>
        <p:nvSpPr>
          <p:cNvPr id="33" name="Direct historical gauge targets"/>
          <p:cNvSpPr/>
          <p:nvPr/>
        </p:nvSpPr>
        <p:spPr>
          <a:xfrm>
            <a:off x="6864776" y="4212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5EA7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Historical gauge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</p:txBody>
      </p:sp>
      <p:sp>
        <p:nvSpPr>
          <p:cNvPr id="36" name="Panel b background"/>
          <p:cNvSpPr/>
          <p:nvPr/>
        </p:nvSpPr>
        <p:spPr>
          <a:xfrm>
            <a:off x="1172816" y="5342496"/>
            <a:ext cx="14174256" cy="3752613"/>
          </a:xfrm>
          <a:prstGeom prst="roundRect">
            <a:avLst>
              <a:gd name="adj" fmla="val 0"/>
            </a:avLst>
          </a:prstGeom>
          <a:solidFill>
            <a:srgbClr val="F7F8FA"/>
          </a:solidFill>
          <a:ln w="12700">
            <a:solidFill>
              <a:srgbClr val="C8CFD6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900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 </a:t>
            </a:r>
            <a:endParaRPr lang="en-US" sz="900" dirty="0"/>
          </a:p>
        </p:txBody>
      </p:sp>
      <p:sp>
        <p:nvSpPr>
          <p:cNvPr id="37" name="Panel b label"/>
          <p:cNvSpPr txBox="1"/>
          <p:nvPr/>
        </p:nvSpPr>
        <p:spPr>
          <a:xfrm>
            <a:off x="1355696" y="548174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(b)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38" name="Panel b title"/>
          <p:cNvSpPr txBox="1"/>
          <p:nvPr/>
        </p:nvSpPr>
        <p:spPr>
          <a:xfrm>
            <a:off x="1812896" y="5481746"/>
            <a:ext cx="10800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Direct R2P architecture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39" name="Detail radar history"/>
          <p:cNvSpPr/>
          <p:nvPr/>
        </p:nvSpPr>
        <p:spPr>
          <a:xfrm>
            <a:off x="2544776" y="615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Radar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history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0" name="Radar temporal encoder"/>
          <p:cNvSpPr/>
          <p:nvPr/>
        </p:nvSpPr>
        <p:spPr>
          <a:xfrm>
            <a:off x="4704776" y="615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Conv stem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+ ConvGRU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1" name="Radar multiscale pyramid"/>
          <p:cNvSpPr/>
          <p:nvPr/>
        </p:nvSpPr>
        <p:spPr>
          <a:xfrm>
            <a:off x="6864776" y="615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Multiscale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pyramid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42" name="Radar history to encoder segment 1"/>
          <p:cNvCxnSpPr>
            <a:cxnSpLocks/>
            <a:stCxn id="39" idx="3"/>
            <a:endCxn id="40" idx="1"/>
          </p:cNvCxnSpPr>
          <p:nvPr/>
        </p:nvCxnSpPr>
        <p:spPr>
          <a:xfrm>
            <a:off x="3984776" y="6516024"/>
            <a:ext cx="72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43" name="Encoder to pyramid segment 1"/>
          <p:cNvCxnSpPr>
            <a:cxnSpLocks/>
            <a:stCxn id="40" idx="3"/>
            <a:endCxn id="41" idx="1"/>
          </p:cNvCxnSpPr>
          <p:nvPr/>
        </p:nvCxnSpPr>
        <p:spPr>
          <a:xfrm>
            <a:off x="6144776" y="6516024"/>
            <a:ext cx="72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sp>
        <p:nvSpPr>
          <p:cNvPr id="44" name="Detail gauge context"/>
          <p:cNvSpPr/>
          <p:nvPr/>
        </p:nvSpPr>
        <p:spPr>
          <a:xfrm>
            <a:off x="2544776" y="7956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Issuance-time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gauge context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5" name="Station encoder"/>
          <p:cNvSpPr/>
          <p:nvPr/>
        </p:nvSpPr>
        <p:spPr>
          <a:xfrm>
            <a:off x="4704776" y="7956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Station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encoder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46" name="Gauge context to station encoder segment 1"/>
          <p:cNvCxnSpPr>
            <a:cxnSpLocks/>
            <a:stCxn id="44" idx="3"/>
            <a:endCxn id="45" idx="1"/>
          </p:cNvCxnSpPr>
          <p:nvPr/>
        </p:nvCxnSpPr>
        <p:spPr>
          <a:xfrm>
            <a:off x="3984776" y="8316024"/>
            <a:ext cx="720000" cy="0"/>
          </a:xfrm>
          <a:prstGeom prst="line">
            <a:avLst/>
          </a:prstGeom>
          <a:ln w="19685">
            <a:solidFill>
              <a:srgbClr val="D9822B"/>
            </a:solidFill>
            <a:prstDash val="solid"/>
            <a:round/>
            <a:tailEnd type="triangle" w="med" len="med"/>
          </a:ln>
        </p:spPr>
      </p:cxnSp>
      <p:sp>
        <p:nvSpPr>
          <p:cNvPr id="47" name="Query conditioned attention"/>
          <p:cNvSpPr/>
          <p:nvPr/>
        </p:nvSpPr>
        <p:spPr>
          <a:xfrm>
            <a:off x="9024776" y="7056024"/>
            <a:ext cx="1440000" cy="720000"/>
          </a:xfrm>
          <a:prstGeom prst="roundRect">
            <a:avLst/>
          </a:prstGeom>
          <a:solidFill>
            <a:srgbClr val="E5E7EE"/>
          </a:solidFill>
          <a:ln w="16510">
            <a:solidFill>
              <a:srgbClr val="59647F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Query-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conditioned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attention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53" name="Location and lead connector annotation"/>
          <p:cNvSpPr txBox="1"/>
          <p:nvPr/>
        </p:nvSpPr>
        <p:spPr>
          <a:xfrm>
            <a:off x="6922136" y="8029277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D9822B"/>
                </a:solidFill>
                <a:latin typeface="Arial"/>
                <a:ea typeface="Arial"/>
                <a:cs typeface="Arial"/>
              </a:rPr>
              <a:t>+ </a:t>
            </a:r>
            <a:r>
              <a:rPr lang="en-US" sz="12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Location and </a:t>
            </a:r>
            <a:r>
              <a:rPr lang="en-US" sz="1200" b="1" dirty="0">
                <a:solidFill>
                  <a:srgbClr val="D9822B"/>
                </a:solidFill>
                <a:latin typeface="Arial"/>
                <a:ea typeface="Arial"/>
                <a:cs typeface="Arial"/>
              </a:rPr>
              <a:t>L</a:t>
            </a:r>
            <a:r>
              <a:rPr lang="en-US" sz="12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ead</a:t>
            </a:r>
            <a:endParaRPr lang="en-US" sz="1200" b="1" dirty="0"/>
          </a:p>
        </p:txBody>
      </p:sp>
      <p:sp>
        <p:nvSpPr>
          <p:cNvPr id="54" name="Cross lead decoder"/>
          <p:cNvSpPr/>
          <p:nvPr/>
        </p:nvSpPr>
        <p:spPr>
          <a:xfrm>
            <a:off x="11184776" y="7056024"/>
            <a:ext cx="1440000" cy="720000"/>
          </a:xfrm>
          <a:prstGeom prst="roundRect">
            <a:avLst/>
          </a:prstGeom>
          <a:solidFill>
            <a:srgbClr val="E5E7EE"/>
          </a:solidFill>
          <a:ln w="16510">
            <a:solidFill>
              <a:srgbClr val="59647F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Cross-lead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decoder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55" name="Attention to decoder segment 1"/>
          <p:cNvCxnSpPr>
            <a:cxnSpLocks/>
            <a:stCxn id="47" idx="3"/>
            <a:endCxn id="54" idx="1"/>
          </p:cNvCxnSpPr>
          <p:nvPr/>
        </p:nvCxnSpPr>
        <p:spPr>
          <a:xfrm>
            <a:off x="10464776" y="7416024"/>
            <a:ext cx="720000" cy="0"/>
          </a:xfrm>
          <a:prstGeom prst="line">
            <a:avLst/>
          </a:prstGeom>
          <a:ln w="19685">
            <a:solidFill>
              <a:srgbClr val="59647F"/>
            </a:solidFill>
            <a:prstDash val="solid"/>
            <a:round/>
            <a:tailEnd type="triangle" w="med" len="med"/>
          </a:ln>
        </p:spPr>
      </p:cxnSp>
      <p:sp>
        <p:nvSpPr>
          <p:cNvPr id="56" name="Direct detail output"/>
          <p:cNvSpPr/>
          <p:nvPr/>
        </p:nvSpPr>
        <p:spPr>
          <a:xfrm>
            <a:off x="13344776" y="7056024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chemeClr val="bg2">
                <a:lumMod val="10000"/>
              </a:schemeClr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Gauge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RN60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57" name="Decoder to RN60 segment 1"/>
          <p:cNvCxnSpPr>
            <a:cxnSpLocks/>
            <a:stCxn id="54" idx="3"/>
            <a:endCxn id="56" idx="1"/>
          </p:cNvCxnSpPr>
          <p:nvPr/>
        </p:nvCxnSpPr>
        <p:spPr>
          <a:xfrm>
            <a:off x="12624776" y="7416024"/>
            <a:ext cx="720000" cy="0"/>
          </a:xfrm>
          <a:prstGeom prst="line">
            <a:avLst/>
          </a:prstGeom>
          <a:ln w="19685">
            <a:solidFill>
              <a:srgbClr val="59647F"/>
            </a:solidFill>
            <a:prstDash val="solid"/>
            <a:round/>
            <a:tailEnd type="triangle" w="med" len="med"/>
          </a:ln>
        </p:spPr>
      </p:cxnSp>
      <p:cxnSp>
        <p:nvCxnSpPr>
          <p:cNvPr id="78" name="연결선: 꺾임 77">
            <a:extLst>
              <a:ext uri="{FF2B5EF4-FFF2-40B4-BE49-F238E27FC236}">
                <ns2:creationId id="{6A0D2B07-F577-7E10-DDF1-B69EE1A621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79200" y="3546024"/>
            <a:ext cx="360000" cy="972000"/>
          </a:xfrm>
          <a:prstGeom prst="bentConnector3">
            <a:avLst>
              <a:gd name="adj1" fmla="val 50000"/>
            </a:avLst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ns2:creationId id="{3C499564-F96E-3AC6-BD36-9A99B828CCAC}"/>
              </a:ext>
            </a:extLst>
          </p:cNvPr>
          <p:cNvCxnSpPr>
            <a:cxnSpLocks/>
            <a:stCxn id="45" idx="3"/>
            <a:endCxn id="47" idx="2"/>
          </p:cNvCxnSpPr>
          <p:nvPr/>
        </p:nvCxnSpPr>
        <p:spPr>
          <a:xfrm flipV="1">
            <a:off x="6144776" y="7776024"/>
            <a:ext cx="3600000" cy="540000"/>
          </a:xfrm>
          <a:prstGeom prst="bentConnector2">
            <a:avLst/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ns2:creationId id="{2945C1A9-2776-BBD2-BBA5-B58ED9D5E072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8304776" y="6516024"/>
            <a:ext cx="720000" cy="900000"/>
          </a:xfrm>
          <a:prstGeom prst="bentConnector3">
            <a:avLst>
              <a:gd name="adj1" fmla="val 50000"/>
            </a:avLst>
          </a:prstGeom>
          <a:ln w="19685">
            <a:solidFill>
              <a:schemeClr val="accent1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ns2:creationId id="{F9BAE7A6-B2BF-FD99-E54D-24EA64B802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779200" y="1745808"/>
            <a:ext cx="360432" cy="972000"/>
          </a:xfrm>
          <a:prstGeom prst="bentConnector3">
            <a:avLst>
              <a:gd name="adj1" fmla="val 50000"/>
            </a:avLst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ns2:creationId id="{F3EF34EE-6C8A-6C13-0DFB-D685DD76CA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91200" y="3546024"/>
            <a:ext cx="360000" cy="972000"/>
          </a:xfrm>
          <a:prstGeom prst="bentConnector3">
            <a:avLst>
              <a:gd name="adj1" fmla="val 50000"/>
            </a:avLst>
          </a:prstGeom>
          <a:ln w="19685">
            <a:solidFill>
              <a:srgbClr val="7B5EA7"/>
            </a:solidFill>
            <a:prstDash val="dash"/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ns2:creationId id="{3327AD5D-535E-5F23-2963-91BDDDBC8F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91200" y="1745808"/>
            <a:ext cx="360432" cy="972000"/>
          </a:xfrm>
          <a:prstGeom prst="bentConnector3">
            <a:avLst>
              <a:gd name="adj1" fmla="val 50000"/>
            </a:avLst>
          </a:prstGeom>
          <a:ln w="19685">
            <a:solidFill>
              <a:srgbClr val="7B5EA7"/>
            </a:solidFill>
            <a:prstDash val="dash"/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Figure 6 editable theme">
  <a:themeElements>
    <a:clrScheme name="Figure 6">
      <a:dk1>
        <a:srgbClr val="25313C"/>
      </a:dk1>
      <a:lt1>
        <a:srgbClr val="FFFFFF"/>
      </a:lt1>
      <a:dk2>
        <a:srgbClr val="44546A"/>
      </a:dk2>
      <a:lt2>
        <a:srgbClr val="E7E6E6"/>
      </a:lt2>
      <a:accent1>
        <a:srgbClr val="2878B5"/>
      </a:accent1>
      <a:accent2>
        <a:srgbClr val="D9822B"/>
      </a:accent2>
      <a:accent3>
        <a:srgbClr val="D81B3A"/>
      </a:accent3>
      <a:accent4>
        <a:srgbClr val="008F7A"/>
      </a:accent4>
      <a:accent5>
        <a:srgbClr val="6B7075"/>
      </a:accent5>
      <a:accent6>
        <a:srgbClr val="708090"/>
      </a:accent6>
      <a:hlink>
        <a:srgbClr val="0563C1"/>
      </a:hlink>
      <a:folHlink>
        <a:srgbClr val="954F72"/>
      </a:folHlink>
    </a:clrScheme>
    <a:fontScheme name="Figure 6 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Figure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1000"/>
                <a:satMod val="130000"/>
              </a:schemeClr>
            </a:gs>
          </a:gsLst>
          <a:lin ang="16200000" scaled="1"/>
        </a:gradFill>
        <a:solidFill>
          <a:schemeClr val="phClr">
            <a:tint val="95000"/>
            <a:satMod val="17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100000">
              <a:schemeClr val="phClr">
                <a:tint val="98000"/>
                <a:satMod val="130000"/>
                <a:shade val="9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315</ns0:TotalTime>
  <ns0:Words>79</ns0:Words>
  <ns0:Application>Microsoft Office PowerPoint</ns0:Application>
  <ns0:PresentationFormat>사용자 지정</ns0:PresentationFormat>
  <ns0:Paragraphs>42</ns0:Paragraphs>
  <ns0:Slides>1</ns0:Slides>
  <ns0:Notes>0</ns0:Notes>
  <ns0:HiddenSlides>0</ns0:HiddenSlides>
  <ns0:MMClips>0</ns0:MMClips>
  <ns0:ScaleCrop>false</ns0:ScaleCrop>
  <ns0: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ns0:HeadingPairs>
  <ns0:TitlesOfParts>
    <vt:vector size="3" baseType="lpstr">
      <vt:lpstr>Arial</vt:lpstr>
      <vt:lpstr>Figure 6 editable theme</vt:lpstr>
      <vt:lpstr>PowerPoint 프레젠테이션</vt:lpstr>
    </vt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/>
  <cp:lastModifiedBy/>
  <cp:revision>1</cp:revision>
  <dcterms:created xsi:type="dcterms:W3CDTF">2000-01-01T00:00:00Z</dcterms:created>
  <dcterms:modified xsi:type="dcterms:W3CDTF">2000-01-01T00:00:00Z</dcterms:modified>
</cp:coreProperties>
</file>