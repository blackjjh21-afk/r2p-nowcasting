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ns3="http://schemas.microsoft.com/office/powerpoint/2012/main" xmlns:p="http://schemas.openxmlformats.org/presentationml/2006/main" xmlns:r="http://schemas.openxmlformats.org/officeDocument/2006/relationships">
  <p:sldMasterIdLst>
    <p:sldMasterId id="2147483648" r:id="rId1"/>
  </p:sldMasterIdLst>
  <p:sldIdLst>
    <p:sldId id="256" r:id="rId2"/>
  </p:sldIdLst>
  <p:sldSz cx="16459200" cy="9933275"/>
  <p:notesSz cx="6858000" cy="9144000"/>
  <p:defaultTextStyle>
    <a:defPPr>
      <a:defRPr lang="en-US"/>
    </a:defPPr>
  </p:defaultTextStyle>
  <p:extLst>
    <p:ext uri="{EFAFB233-063F-42B5-8137-9DF3F51BA10A}">
      <ns3:sldGuideLst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E1FF"/>
    <a:srgbClr val="FFCC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Objects="1">
      <p:cViewPr varScale="1">
        <p:scale>
          <a:sx n="67" d="100"/>
          <a:sy n="67" d="100"/>
        </p:scale>
        <p:origin x="66" y="1116"/>
      </p:cViewPr>
      <p:guideLst/>
    </p:cSldViewPr>
  </p:slideViewPr>
  <p:notesTextViewPr>
    <p:cViewPr>
      <p:scale>
        <a:sx n="100" d="100"/>
        <a:sy n="100" d="100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Blank 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>
      <a:lvl1pPr algn="l">
        <a:defRPr sz="3200" b="1"/>
      </a:lvl1pPr>
    </p:titleStyle>
    <p:bodyStyle>
      <a:lvl1pPr marL="0" indent="0">
        <a:defRPr sz="1800"/>
      </a:lvl1pPr>
    </p:bodyStyle>
    <p:otherStyle>
      <a:defPPr>
        <a:defRPr lang="en-US"/>
      </a:def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ns2="http://schemas.microsoft.com/office/drawing/2014/main" xmlns:p="http://schemas.openxmlformats.org/presentationml/2006/main">
  <p:cSld name="Simplified Figure 6 candida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Panel a background"/>
          <p:cNvSpPr/>
          <p:nvPr/>
        </p:nvSpPr>
        <p:spPr>
          <a:xfrm>
            <a:off x="1172816" y="526918"/>
            <a:ext cx="14174256" cy="4920000"/>
          </a:xfrm>
          <a:prstGeom prst="roundRect">
            <a:avLst>
              <a:gd name="adj" fmla="val 0"/>
            </a:avLst>
          </a:prstGeom>
          <a:solidFill>
            <a:srgbClr val="F7F8FA"/>
          </a:solidFill>
          <a:ln w="12700">
            <a:solidFill>
              <a:srgbClr val="C8CFD6"/>
            </a:solidFill>
            <a:prstDash val="solid"/>
            <a:round/>
          </a:ln>
        </p:spPr>
        <p:txBody>
          <a:bodyPr wrap="square" lIns="41148" tIns="41148" rIns="41148" bIns="41148" anchor="ctr">
            <a:normAutofit/>
          </a:bodyPr>
          <a:lstStyle/>
          <a:p>
            <a:pPr algn="ctr">
              <a:buNone/>
            </a:pPr>
            <a:r>
              <a:rPr lang="en-US" sz="900" dirty="0">
                <a:solidFill>
                  <a:srgbClr val="25313C"/>
                </a:solidFill>
                <a:latin typeface="Arial"/>
                <a:ea typeface="Arial"/>
                <a:cs typeface="Arial"/>
              </a:rPr>
              <a:t> </a:t>
            </a:r>
            <a:endParaRPr lang="en-US" sz="900" dirty="0"/>
          </a:p>
        </p:txBody>
      </p:sp>
      <p:sp>
        <p:nvSpPr>
          <p:cNvPr id="4" name="Panel a label"/>
          <p:cNvSpPr txBox="1"/>
          <p:nvPr/>
        </p:nvSpPr>
        <p:spPr>
          <a:xfrm>
            <a:off x="1355696" y="654936"/>
            <a:ext cx="438912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>
              <a:buNone/>
            </a:pPr>
            <a:r>
              <a:rPr lang="en-US" sz="1600" b="1" dirty="0">
                <a:solidFill>
                  <a:srgbClr val="25313C"/>
                </a:solidFill>
                <a:latin typeface="+mn-lt"/>
                <a:ea typeface="나눔스퀘어 Bold" panose="020B0600000101010101" pitchFamily="50" charset="-127"/>
                <a:cs typeface="Arial"/>
              </a:rPr>
              <a:t>(a)</a:t>
            </a:r>
            <a:endParaRPr lang="en-US" sz="1600" b="1" dirty="0">
              <a:latin typeface="+mn-lt"/>
              <a:ea typeface="나눔스퀘어 Bold" panose="020B0600000101010101" pitchFamily="50" charset="-127"/>
            </a:endParaRPr>
          </a:p>
        </p:txBody>
      </p:sp>
      <p:sp>
        <p:nvSpPr>
          <p:cNvPr id="5" name="Panel a title"/>
          <p:cNvSpPr txBox="1"/>
          <p:nvPr/>
        </p:nvSpPr>
        <p:spPr>
          <a:xfrm>
            <a:off x="1812896" y="654936"/>
            <a:ext cx="10800000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>
              <a:buNone/>
            </a:pPr>
            <a:r>
              <a:rPr lang="en-US" sz="1600" b="1" dirty="0">
                <a:solidFill>
                  <a:srgbClr val="25313C"/>
                </a:solidFill>
                <a:latin typeface="+mn-lt"/>
                <a:ea typeface="나눔스퀘어 Bold" panose="020B0600000101010101" pitchFamily="50" charset="-127"/>
                <a:cs typeface="Arial"/>
              </a:rPr>
              <a:t>Forecast routes and scope of gauge supervision</a:t>
            </a:r>
            <a:endParaRPr lang="en-US" sz="1600" b="1" dirty="0">
              <a:latin typeface="+mn-lt"/>
              <a:ea typeface="나눔스퀘어 Bold" panose="020B0600000101010101" pitchFamily="50" charset="-127"/>
            </a:endParaRPr>
          </a:p>
        </p:txBody>
      </p:sp>
      <p:sp>
        <p:nvSpPr>
          <p:cNvPr id="6" name="Field-first lane label"/>
          <p:cNvSpPr txBox="1"/>
          <p:nvPr/>
        </p:nvSpPr>
        <p:spPr>
          <a:xfrm>
            <a:off x="1419704" y="1569336"/>
            <a:ext cx="932688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buNone/>
            </a:pPr>
            <a:r>
              <a:rPr lang="en-US" sz="1400" b="1" dirty="0">
                <a:solidFill>
                  <a:srgbClr val="25313C"/>
                </a:solidFill>
                <a:latin typeface="+mn-lt"/>
                <a:ea typeface="나눔스퀘어 Bold" panose="020B0600000101010101" pitchFamily="50" charset="-127"/>
                <a:cs typeface="Arial"/>
              </a:rPr>
              <a:t>Field-first</a:t>
            </a:r>
            <a:endParaRPr lang="en-US" sz="1400" b="1" dirty="0">
              <a:latin typeface="+mn-lt"/>
              <a:ea typeface="나눔스퀘어 Bold" panose="020B0600000101010101" pitchFamily="50" charset="-127"/>
            </a:endParaRPr>
          </a:p>
        </p:txBody>
      </p:sp>
      <p:sp>
        <p:nvSpPr>
          <p:cNvPr id="7" name="Field radar history"/>
          <p:cNvSpPr/>
          <p:nvPr/>
        </p:nvSpPr>
        <p:spPr>
          <a:xfrm>
            <a:off x="2544776" y="1331592"/>
            <a:ext cx="1440000" cy="720000"/>
          </a:xfrm>
          <a:prstGeom prst="roundRect">
            <a:avLst/>
          </a:prstGeom>
          <a:solidFill>
            <a:srgbClr val="DCECF7"/>
          </a:solidFill>
          <a:ln w="16510">
            <a:solidFill>
              <a:srgbClr val="2878B5"/>
            </a:solidFill>
            <a:prstDash val="solid"/>
            <a:round/>
          </a:ln>
        </p:spPr>
        <p:txBody>
          <a:bodyPr wrap="square" lIns="41148" tIns="41148" rIns="41148" bIns="41148" anchor="ctr">
            <a:normAutofit/>
          </a:bodyPr>
          <a:lstStyle/>
          <a:p>
            <a:pPr algn="ctr">
              <a:buNone/>
            </a:pPr>
            <a:r>
              <a:rPr lang="en-US" sz="1200" b="1" dirty="0">
                <a:solidFill>
                  <a:srgbClr val="25313C"/>
                </a:solidFill>
                <a:latin typeface="Arial"/>
                <a:ea typeface="Arial"/>
                <a:cs typeface="Arial"/>
              </a:rPr>
              <a:t>Radar</a:t>
            </a:r>
            <a:endParaRPr lang="en-US" sz="1200" b="1" dirty="0"/>
          </a:p>
          <a:p>
            <a:pPr algn="ctr">
              <a:buNone/>
            </a:pPr>
            <a:r>
              <a:rPr lang="en-US" sz="1200" b="1" dirty="0">
                <a:solidFill>
                  <a:srgbClr val="25313C"/>
                </a:solidFill>
                <a:latin typeface="Arial"/>
                <a:ea typeface="Arial"/>
                <a:cs typeface="Arial"/>
              </a:rPr>
              <a:t>history</a:t>
            </a:r>
            <a:endParaRPr lang="en-US" sz="1200" b="1" dirty="0"/>
          </a:p>
        </p:txBody>
      </p:sp>
      <p:sp>
        <p:nvSpPr>
          <p:cNvPr id="8" name="Field forecasters"/>
          <p:cNvSpPr/>
          <p:nvPr/>
        </p:nvSpPr>
        <p:spPr>
          <a:xfrm>
            <a:off x="5244776" y="1331592"/>
            <a:ext cx="1440000" cy="720000"/>
          </a:xfrm>
          <a:prstGeom prst="roundRect">
            <a:avLst/>
          </a:prstGeom>
          <a:solidFill>
            <a:srgbClr val="E2F1EE"/>
          </a:solidFill>
          <a:ln w="16510">
            <a:solidFill>
              <a:srgbClr val="008F7A"/>
            </a:solidFill>
            <a:prstDash val="solid"/>
            <a:round/>
          </a:ln>
        </p:spPr>
        <p:txBody>
          <a:bodyPr wrap="square" lIns="41148" tIns="41148" rIns="41148" bIns="41148" anchor="ctr">
            <a:normAutofit/>
          </a:bodyPr>
          <a:lstStyle/>
          <a:p>
            <a:pPr algn="ctr">
              <a:buNone/>
            </a:pPr>
            <a:r>
              <a:rPr lang="en-US" sz="1200" b="1" dirty="0">
                <a:solidFill>
                  <a:srgbClr val="25313C"/>
                </a:solidFill>
                <a:latin typeface="Arial"/>
                <a:ea typeface="Arial"/>
                <a:cs typeface="Arial"/>
              </a:rPr>
              <a:t>pySTEPS</a:t>
            </a:r>
            <a:endParaRPr lang="en-US" sz="1200" b="1" dirty="0"/>
          </a:p>
          <a:p>
            <a:pPr algn="ctr">
              <a:buNone/>
            </a:pPr>
            <a:r>
              <a:rPr lang="en-US" sz="1200" b="1" dirty="0">
                <a:solidFill>
                  <a:srgbClr val="25313C"/>
                </a:solidFill>
                <a:latin typeface="Arial"/>
                <a:ea typeface="Arial"/>
                <a:cs typeface="Arial"/>
              </a:rPr>
              <a:t>or exPreCast</a:t>
            </a:r>
            <a:endParaRPr lang="en-US" sz="1200" b="1" dirty="0"/>
          </a:p>
        </p:txBody>
      </p:sp>
      <p:sp>
        <p:nvSpPr>
          <p:cNvPr id="9" name="Forecast HSR"/>
          <p:cNvSpPr/>
          <p:nvPr/>
        </p:nvSpPr>
        <p:spPr>
          <a:xfrm>
            <a:off x="7944776" y="1331592"/>
            <a:ext cx="1440000" cy="720000"/>
          </a:xfrm>
          <a:prstGeom prst="roundRect">
            <a:avLst/>
          </a:prstGeom>
          <a:solidFill>
            <a:srgbClr val="E2F1EE"/>
          </a:solidFill>
          <a:ln w="16510">
            <a:solidFill>
              <a:srgbClr val="008F7A"/>
            </a:solidFill>
            <a:prstDash val="solid"/>
            <a:round/>
          </a:ln>
        </p:spPr>
        <p:txBody>
          <a:bodyPr wrap="square" lIns="41148" tIns="41148" rIns="41148" bIns="41148" anchor="ctr">
            <a:normAutofit/>
          </a:bodyPr>
          <a:lstStyle/>
          <a:p>
            <a:pPr algn="ctr">
              <a:buNone/>
            </a:pPr>
            <a:r>
              <a:rPr lang="en-US" sz="1200" b="1" dirty="0">
                <a:solidFill>
                  <a:srgbClr val="25313C"/>
                </a:solidFill>
                <a:latin typeface="Arial"/>
                <a:ea typeface="Arial"/>
                <a:cs typeface="Arial"/>
              </a:rPr>
              <a:t>Forecast HSR</a:t>
            </a:r>
            <a:endParaRPr lang="en-US" sz="1200" b="1" dirty="0"/>
          </a:p>
        </p:txBody>
      </p:sp>
      <p:sp>
        <p:nvSpPr>
          <p:cNvPr id="10" name="CNN"/>
          <p:cNvSpPr/>
          <p:nvPr/>
        </p:nvSpPr>
        <p:spPr>
          <a:xfrm>
            <a:off x="10644776" y="1331592"/>
            <a:ext cx="1440000" cy="720000"/>
          </a:xfrm>
          <a:prstGeom prst="roundRect">
            <a:avLst/>
          </a:prstGeom>
          <a:solidFill>
            <a:srgbClr val="DDF3EE"/>
          </a:solidFill>
          <a:ln w="16510">
            <a:solidFill>
              <a:srgbClr val="008F7A"/>
            </a:solidFill>
            <a:prstDash val="solid"/>
            <a:round/>
          </a:ln>
        </p:spPr>
        <p:txBody>
          <a:bodyPr wrap="square" lIns="41148" tIns="41148" rIns="41148" bIns="41148" anchor="ctr">
            <a:normAutofit/>
          </a:bodyPr>
          <a:lstStyle/>
          <a:p>
            <a:pPr algn="ctr">
              <a:buNone/>
            </a:pPr>
            <a:r>
              <a:rPr lang="en-US" sz="1200" b="1" dirty="0">
                <a:solidFill>
                  <a:srgbClr val="25313C"/>
                </a:solidFill>
                <a:latin typeface="Arial"/>
                <a:ea typeface="Arial"/>
                <a:cs typeface="Arial"/>
              </a:rPr>
              <a:t>CNN</a:t>
            </a:r>
            <a:endParaRPr lang="en-US" sz="1200" b="1" dirty="0"/>
          </a:p>
        </p:txBody>
      </p:sp>
      <p:sp>
        <p:nvSpPr>
          <p:cNvPr id="11" name="Field RN60 output"/>
          <p:cNvSpPr/>
          <p:nvPr/>
        </p:nvSpPr>
        <p:spPr>
          <a:xfrm>
            <a:off x="13344776" y="1331592"/>
            <a:ext cx="1440000" cy="720000"/>
          </a:xfrm>
          <a:prstGeom prst="roundRect">
            <a:avLst/>
          </a:prstGeom>
          <a:solidFill>
            <a:srgbClr val="F7F8FA"/>
          </a:solidFill>
          <a:ln w="16510">
            <a:solidFill>
              <a:srgbClr val="000000"/>
            </a:solidFill>
            <a:prstDash val="solid"/>
            <a:round/>
          </a:ln>
        </p:spPr>
        <p:txBody>
          <a:bodyPr wrap="square" lIns="41148" tIns="41148" rIns="41148" bIns="41148" anchor="ctr">
            <a:normAutofit/>
          </a:bodyPr>
          <a:lstStyle/>
          <a:p>
            <a:pPr algn="ctr">
              <a:buNone/>
            </a:pPr>
            <a:r>
              <a:rPr lang="en-US" sz="1200" b="1" dirty="0">
                <a:solidFill>
                  <a:srgbClr val="25313C"/>
                </a:solidFill>
                <a:latin typeface="Arial"/>
                <a:ea typeface="Arial"/>
                <a:cs typeface="Arial"/>
              </a:rPr>
              <a:t>Gauge RN60</a:t>
            </a:r>
            <a:endParaRPr lang="en-US" sz="1200" b="1" dirty="0"/>
          </a:p>
        </p:txBody>
      </p:sp>
      <p:cxnSp>
        <p:nvCxnSpPr>
          <p:cNvPr id="12" name="Field radar to forecaster segment 1"/>
          <p:cNvCxnSpPr>
            <a:cxnSpLocks/>
            <a:stCxn id="7" idx="3"/>
            <a:endCxn id="8" idx="1"/>
          </p:cNvCxnSpPr>
          <p:nvPr/>
        </p:nvCxnSpPr>
        <p:spPr>
          <a:xfrm>
            <a:off x="3984776" y="1691592"/>
            <a:ext cx="1260000" cy="0"/>
          </a:xfrm>
          <a:prstGeom prst="line">
            <a:avLst/>
          </a:prstGeom>
          <a:ln w="19685">
            <a:solidFill>
              <a:srgbClr val="2878B5"/>
            </a:solidFill>
            <a:prstDash val="solid"/>
            <a:round/>
            <a:tailEnd type="triangle" w="med" len="med"/>
          </a:ln>
        </p:spPr>
      </p:cxnSp>
      <p:cxnSp>
        <p:nvCxnSpPr>
          <p:cNvPr id="13" name="Forecaster to HSR segment 1"/>
          <p:cNvCxnSpPr>
            <a:cxnSpLocks/>
            <a:stCxn id="8" idx="3"/>
            <a:endCxn id="9" idx="1"/>
          </p:cNvCxnSpPr>
          <p:nvPr/>
        </p:nvCxnSpPr>
        <p:spPr>
          <a:xfrm>
            <a:off x="6684776" y="1691592"/>
            <a:ext cx="1260000" cy="0"/>
          </a:xfrm>
          <a:prstGeom prst="line">
            <a:avLst/>
          </a:prstGeom>
          <a:ln w="19685">
            <a:solidFill>
              <a:srgbClr val="008F7A"/>
            </a:solidFill>
            <a:prstDash val="solid"/>
            <a:round/>
            <a:tailEnd type="triangle" w="med" len="med"/>
          </a:ln>
        </p:spPr>
      </p:cxnSp>
      <p:cxnSp>
        <p:nvCxnSpPr>
          <p:cNvPr id="14" name="HSR to CNN segment 1"/>
          <p:cNvCxnSpPr>
            <a:cxnSpLocks/>
            <a:stCxn id="9" idx="3"/>
            <a:endCxn id="10" idx="1"/>
          </p:cNvCxnSpPr>
          <p:nvPr/>
        </p:nvCxnSpPr>
        <p:spPr>
          <a:xfrm>
            <a:off x="9384776" y="1691592"/>
            <a:ext cx="1260000" cy="0"/>
          </a:xfrm>
          <a:prstGeom prst="line">
            <a:avLst/>
          </a:prstGeom>
          <a:ln w="19685">
            <a:solidFill>
              <a:srgbClr val="008F7A"/>
            </a:solidFill>
            <a:prstDash val="solid"/>
            <a:round/>
            <a:tailEnd type="triangle" w="med" len="med"/>
          </a:ln>
        </p:spPr>
      </p:cxnSp>
      <p:cxnSp>
        <p:nvCxnSpPr>
          <p:cNvPr id="15" name="CNN to RN60 segment 1"/>
          <p:cNvCxnSpPr>
            <a:cxnSpLocks/>
            <a:stCxn id="10" idx="3"/>
            <a:endCxn id="11" idx="1"/>
          </p:cNvCxnSpPr>
          <p:nvPr/>
        </p:nvCxnSpPr>
        <p:spPr>
          <a:xfrm>
            <a:off x="12084776" y="1691592"/>
            <a:ext cx="1260000" cy="0"/>
          </a:xfrm>
          <a:prstGeom prst="line">
            <a:avLst/>
          </a:prstGeom>
          <a:ln w="19685">
            <a:solidFill>
              <a:srgbClr val="008F7A"/>
            </a:solidFill>
            <a:prstDash val="solid"/>
            <a:round/>
            <a:tailEnd type="triangle" w="med" len="med"/>
          </a:ln>
        </p:spPr>
      </p:cxnSp>
      <p:sp>
        <p:nvSpPr>
          <p:cNvPr id="16" name="Field gauge context"/>
          <p:cNvSpPr/>
          <p:nvPr/>
        </p:nvSpPr>
        <p:spPr>
          <a:xfrm>
            <a:off x="11724776" y="2412024"/>
            <a:ext cx="1440000" cy="720000"/>
          </a:xfrm>
          <a:prstGeom prst="roundRect">
            <a:avLst/>
          </a:prstGeom>
          <a:solidFill>
            <a:srgbClr val="FFF0D8"/>
          </a:solidFill>
          <a:ln w="16510">
            <a:solidFill>
              <a:srgbClr val="D9822B"/>
            </a:solidFill>
            <a:prstDash val="solid"/>
            <a:round/>
          </a:ln>
        </p:spPr>
        <p:txBody>
          <a:bodyPr wrap="square" lIns="41148" tIns="41148" rIns="41148" bIns="41148" anchor="ctr">
            <a:normAutofit/>
          </a:bodyPr>
          <a:lstStyle/>
          <a:p>
            <a:pPr algn="ctr">
              <a:buNone/>
            </a:pPr>
            <a:r>
              <a:rPr lang="en-US" sz="1200" b="1" dirty="0">
                <a:solidFill>
                  <a:srgbClr val="25313C"/>
                </a:solidFill>
                <a:latin typeface="Arial"/>
                <a:ea typeface="Arial"/>
                <a:cs typeface="Arial"/>
              </a:rPr>
              <a:t>Issuance-time</a:t>
            </a:r>
            <a:endParaRPr lang="en-US" sz="1200" b="1" dirty="0"/>
          </a:p>
          <a:p>
            <a:pPr algn="ctr">
              <a:buNone/>
            </a:pPr>
            <a:r>
              <a:rPr lang="en-US" sz="1200" b="1" dirty="0">
                <a:solidFill>
                  <a:srgbClr val="25313C"/>
                </a:solidFill>
                <a:latin typeface="Arial"/>
                <a:ea typeface="Arial"/>
                <a:cs typeface="Arial"/>
              </a:rPr>
              <a:t>gauge context</a:t>
            </a:r>
            <a:endParaRPr lang="en-US" sz="1200" b="1" dirty="0"/>
          </a:p>
        </p:txBody>
      </p:sp>
      <p:sp>
        <p:nvSpPr>
          <p:cNvPr id="18" name="Field historical gauge targets"/>
          <p:cNvSpPr/>
          <p:nvPr/>
        </p:nvSpPr>
        <p:spPr>
          <a:xfrm>
            <a:off x="9564776" y="2412024"/>
            <a:ext cx="1440000" cy="720000"/>
          </a:xfrm>
          <a:prstGeom prst="roundRect">
            <a:avLst/>
          </a:prstGeom>
          <a:solidFill>
            <a:srgbClr val="FFFFFF"/>
          </a:solidFill>
          <a:ln w="16510">
            <a:solidFill>
              <a:srgbClr val="7B5EA7"/>
            </a:solidFill>
            <a:prstDash val="solid"/>
            <a:round/>
          </a:ln>
        </p:spPr>
        <p:txBody>
          <a:bodyPr wrap="square" lIns="41148" tIns="41148" rIns="41148" bIns="41148" anchor="ctr">
            <a:normAutofit/>
          </a:bodyPr>
          <a:lstStyle/>
          <a:p>
            <a:pPr algn="ctr">
              <a:buNone/>
            </a:pPr>
            <a:r>
              <a:rPr lang="en-US" sz="1200" b="1" dirty="0">
                <a:solidFill>
                  <a:srgbClr val="25313C"/>
                </a:solidFill>
                <a:latin typeface="Arial"/>
                <a:ea typeface="Arial"/>
                <a:cs typeface="Arial"/>
              </a:rPr>
              <a:t>Historical gauge</a:t>
            </a:r>
            <a:endParaRPr lang="en-US" sz="1200" b="1" dirty="0"/>
          </a:p>
          <a:p>
            <a:pPr algn="ctr">
              <a:buNone/>
            </a:pPr>
            <a:r>
              <a:rPr lang="en-US" sz="1200" b="1" dirty="0">
                <a:solidFill>
                  <a:srgbClr val="25313C"/>
                </a:solidFill>
                <a:latin typeface="Arial"/>
                <a:ea typeface="Arial"/>
                <a:cs typeface="Arial"/>
              </a:rPr>
              <a:t>targets</a:t>
            </a:r>
            <a:endParaRPr lang="en-US" sz="1200" b="1" dirty="0"/>
          </a:p>
        </p:txBody>
      </p:sp>
      <p:sp>
        <p:nvSpPr>
          <p:cNvPr id="23" name="Future HSR supervision"/>
          <p:cNvSpPr/>
          <p:nvPr/>
        </p:nvSpPr>
        <p:spPr>
          <a:xfrm>
            <a:off x="5244776" y="2268024"/>
            <a:ext cx="1440000" cy="720000"/>
          </a:xfrm>
          <a:prstGeom prst="roundRect">
            <a:avLst/>
          </a:prstGeom>
          <a:solidFill>
            <a:srgbClr val="FFFFFF"/>
          </a:solidFill>
          <a:ln w="16510">
            <a:solidFill>
              <a:srgbClr val="008F7A"/>
            </a:solidFill>
            <a:prstDash val="solid"/>
            <a:round/>
          </a:ln>
        </p:spPr>
        <p:txBody>
          <a:bodyPr wrap="square" lIns="41148" tIns="41148" rIns="41148" bIns="41148" anchor="ctr">
            <a:normAutofit/>
          </a:bodyPr>
          <a:lstStyle/>
          <a:p>
            <a:pPr algn="ctr">
              <a:buNone/>
            </a:pPr>
            <a:r>
              <a:rPr lang="en-US" sz="1200" b="1" dirty="0">
                <a:solidFill>
                  <a:srgbClr val="25313C"/>
                </a:solidFill>
                <a:latin typeface="Arial"/>
                <a:ea typeface="Arial"/>
                <a:cs typeface="Arial"/>
              </a:rPr>
              <a:t>Future HSR</a:t>
            </a:r>
            <a:endParaRPr lang="en-US" sz="1200" b="1" dirty="0"/>
          </a:p>
          <a:p>
            <a:pPr algn="ctr">
              <a:buNone/>
            </a:pPr>
            <a:r>
              <a:rPr lang="en-US" sz="1200" b="1" dirty="0">
                <a:solidFill>
                  <a:srgbClr val="25313C"/>
                </a:solidFill>
                <a:latin typeface="Arial"/>
                <a:ea typeface="Arial"/>
                <a:cs typeface="Arial"/>
              </a:rPr>
              <a:t>targets</a:t>
            </a:r>
            <a:endParaRPr lang="en-US" sz="1200" b="1" dirty="0"/>
          </a:p>
          <a:p>
            <a:pPr algn="ctr">
              <a:buNone/>
            </a:pPr>
            <a:r>
              <a:rPr lang="en-US" sz="1200" b="1" dirty="0">
                <a:solidFill>
                  <a:srgbClr val="25313C"/>
                </a:solidFill>
                <a:latin typeface="Arial"/>
                <a:ea typeface="Arial"/>
                <a:cs typeface="Arial"/>
              </a:rPr>
              <a:t>(exPreCast only)</a:t>
            </a:r>
            <a:endParaRPr lang="en-US" sz="1200" b="1" dirty="0"/>
          </a:p>
        </p:txBody>
      </p:sp>
      <p:cxnSp>
        <p:nvCxnSpPr>
          <p:cNvPr id="24" name="HSR supervision to exPreCast segment 1"/>
          <p:cNvCxnSpPr>
            <a:cxnSpLocks/>
            <a:stCxn id="23" idx="0"/>
            <a:endCxn id="8" idx="2"/>
          </p:cNvCxnSpPr>
          <p:nvPr/>
        </p:nvCxnSpPr>
        <p:spPr>
          <a:xfrm flipV="1">
            <a:off x="5964776" y="2051592"/>
            <a:ext cx="0" cy="216432"/>
          </a:xfrm>
          <a:prstGeom prst="line">
            <a:avLst/>
          </a:prstGeom>
          <a:ln w="19685">
            <a:solidFill>
              <a:srgbClr val="008F7A"/>
            </a:solidFill>
            <a:prstDash val="solid"/>
            <a:round/>
            <a:tailEnd type="triangle" w="med" len="med"/>
          </a:ln>
        </p:spPr>
      </p:cxnSp>
      <p:sp>
        <p:nvSpPr>
          <p:cNvPr id="25" name="Direct lane label"/>
          <p:cNvSpPr txBox="1"/>
          <p:nvPr/>
        </p:nvSpPr>
        <p:spPr>
          <a:xfrm>
            <a:off x="1419704" y="3610704"/>
            <a:ext cx="932688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buNone/>
            </a:pPr>
            <a:r>
              <a:rPr lang="en-US" sz="1400" b="1" dirty="0">
                <a:solidFill>
                  <a:srgbClr val="25313C"/>
                </a:solidFill>
                <a:latin typeface="+mn-lt"/>
                <a:ea typeface="나눔스퀘어 Bold" panose="020B0600000101010101" pitchFamily="50" charset="-127"/>
                <a:cs typeface="Arial"/>
              </a:rPr>
              <a:t>Direct</a:t>
            </a:r>
            <a:endParaRPr lang="en-US" sz="1400" b="1" dirty="0">
              <a:latin typeface="+mn-lt"/>
              <a:ea typeface="나눔스퀘어 Bold" panose="020B0600000101010101" pitchFamily="50" charset="-127"/>
            </a:endParaRPr>
          </a:p>
        </p:txBody>
      </p:sp>
      <p:sp>
        <p:nvSpPr>
          <p:cNvPr id="26" name="Direct radar history"/>
          <p:cNvSpPr/>
          <p:nvPr/>
        </p:nvSpPr>
        <p:spPr>
          <a:xfrm>
            <a:off x="2544776" y="3372960"/>
            <a:ext cx="1440000" cy="720000"/>
          </a:xfrm>
          <a:prstGeom prst="roundRect">
            <a:avLst/>
          </a:prstGeom>
          <a:solidFill>
            <a:srgbClr val="DCECF7"/>
          </a:solidFill>
          <a:ln w="16510">
            <a:solidFill>
              <a:srgbClr val="2878B5"/>
            </a:solidFill>
            <a:prstDash val="solid"/>
            <a:round/>
          </a:ln>
        </p:spPr>
        <p:txBody>
          <a:bodyPr wrap="square" lIns="41148" tIns="41148" rIns="41148" bIns="41148" anchor="ctr">
            <a:normAutofit/>
          </a:bodyPr>
          <a:lstStyle/>
          <a:p>
            <a:pPr algn="ctr">
              <a:buNone/>
            </a:pPr>
            <a:r>
              <a:rPr lang="en-US" sz="1200" b="1" dirty="0">
                <a:solidFill>
                  <a:srgbClr val="25313C"/>
                </a:solidFill>
                <a:latin typeface="Arial"/>
                <a:ea typeface="Arial"/>
                <a:cs typeface="Arial"/>
              </a:rPr>
              <a:t>Radar</a:t>
            </a:r>
            <a:endParaRPr lang="en-US" sz="1200" b="1" dirty="0"/>
          </a:p>
          <a:p>
            <a:pPr algn="ctr">
              <a:buNone/>
            </a:pPr>
            <a:r>
              <a:rPr lang="en-US" sz="1200" b="1" dirty="0">
                <a:solidFill>
                  <a:srgbClr val="25313C"/>
                </a:solidFill>
                <a:latin typeface="Arial"/>
                <a:ea typeface="Arial"/>
                <a:cs typeface="Arial"/>
              </a:rPr>
              <a:t>history</a:t>
            </a:r>
            <a:endParaRPr lang="en-US" sz="1200" b="1" dirty="0"/>
          </a:p>
        </p:txBody>
      </p:sp>
      <p:sp>
        <p:nvSpPr>
          <p:cNvPr id="27" name="Direct R2P route"/>
          <p:cNvSpPr/>
          <p:nvPr/>
        </p:nvSpPr>
        <p:spPr>
          <a:xfrm>
            <a:off x="7944776" y="3372024"/>
            <a:ext cx="1440000" cy="720000"/>
          </a:xfrm>
          <a:prstGeom prst="roundRect">
            <a:avLst/>
          </a:prstGeom>
          <a:solidFill>
            <a:schemeClr val="accent3">
              <a:lumMod val="20000"/>
              <a:lumOff val="80000"/>
            </a:schemeClr>
          </a:solidFill>
          <a:ln w="16510">
            <a:solidFill>
              <a:schemeClr val="accent3"/>
            </a:solidFill>
            <a:prstDash val="solid"/>
            <a:round/>
          </a:ln>
        </p:spPr>
        <p:txBody>
          <a:bodyPr wrap="square" lIns="41148" tIns="41148" rIns="41148" bIns="41148" anchor="ctr">
            <a:normAutofit/>
          </a:bodyPr>
          <a:lstStyle/>
          <a:p>
            <a:pPr algn="ctr">
              <a:buNone/>
            </a:pPr>
            <a:r>
              <a:rPr lang="en-US" sz="1200" b="1" dirty="0">
                <a:solidFill>
                  <a:srgbClr val="25313C"/>
                </a:solidFill>
                <a:latin typeface="Arial"/>
                <a:ea typeface="Arial"/>
                <a:cs typeface="Arial"/>
              </a:rPr>
              <a:t>Direct R2P</a:t>
            </a:r>
            <a:endParaRPr lang="en-US" sz="1200" b="1" dirty="0"/>
          </a:p>
        </p:txBody>
      </p:sp>
      <p:sp>
        <p:nvSpPr>
          <p:cNvPr id="28" name="Direct RN60 output"/>
          <p:cNvSpPr/>
          <p:nvPr/>
        </p:nvSpPr>
        <p:spPr>
          <a:xfrm>
            <a:off x="13344776" y="3372960"/>
            <a:ext cx="1440000" cy="720000"/>
          </a:xfrm>
          <a:prstGeom prst="roundRect">
            <a:avLst/>
          </a:prstGeom>
          <a:solidFill>
            <a:srgbClr val="F7F8FA"/>
          </a:solidFill>
          <a:ln w="16510">
            <a:solidFill>
              <a:srgbClr val="000000"/>
            </a:solidFill>
            <a:prstDash val="solid"/>
            <a:round/>
          </a:ln>
        </p:spPr>
        <p:txBody>
          <a:bodyPr wrap="square" lIns="41148" tIns="41148" rIns="41148" bIns="41148" anchor="ctr">
            <a:normAutofit/>
          </a:bodyPr>
          <a:lstStyle/>
          <a:p>
            <a:pPr algn="ctr">
              <a:buNone/>
            </a:pPr>
            <a:r>
              <a:rPr lang="en-US" sz="1200" b="1" dirty="0">
                <a:solidFill>
                  <a:srgbClr val="25313C"/>
                </a:solidFill>
                <a:latin typeface="Arial"/>
                <a:ea typeface="Arial"/>
                <a:cs typeface="Arial"/>
              </a:rPr>
              <a:t>Gauge RN60</a:t>
            </a:r>
            <a:endParaRPr lang="en-US" sz="1200" b="1" dirty="0"/>
          </a:p>
        </p:txBody>
      </p:sp>
      <p:cxnSp>
        <p:nvCxnSpPr>
          <p:cNvPr id="29" name="Direct radar to R2P segment 1"/>
          <p:cNvCxnSpPr>
            <a:cxnSpLocks/>
            <a:stCxn id="26" idx="3"/>
            <a:endCxn id="27" idx="1"/>
          </p:cNvCxnSpPr>
          <p:nvPr/>
        </p:nvCxnSpPr>
        <p:spPr>
          <a:xfrm flipV="1">
            <a:off x="3984776" y="3732024"/>
            <a:ext cx="3960000" cy="936"/>
          </a:xfrm>
          <a:prstGeom prst="line">
            <a:avLst/>
          </a:prstGeom>
          <a:ln w="19685">
            <a:solidFill>
              <a:srgbClr val="2878B5"/>
            </a:solidFill>
            <a:prstDash val="solid"/>
            <a:round/>
            <a:tailEnd type="triangle" w="med" len="med"/>
          </a:ln>
        </p:spPr>
      </p:cxnSp>
      <p:cxnSp>
        <p:nvCxnSpPr>
          <p:cNvPr id="30" name="Direct R2P to RN60 segment 1"/>
          <p:cNvCxnSpPr>
            <a:cxnSpLocks/>
            <a:stCxn id="27" idx="3"/>
            <a:endCxn id="28" idx="1"/>
          </p:cNvCxnSpPr>
          <p:nvPr/>
        </p:nvCxnSpPr>
        <p:spPr>
          <a:xfrm>
            <a:off x="9384776" y="3732024"/>
            <a:ext cx="3960000" cy="936"/>
          </a:xfrm>
          <a:prstGeom prst="line">
            <a:avLst/>
          </a:prstGeom>
          <a:ln w="19685">
            <a:solidFill>
              <a:schemeClr val="accent3"/>
            </a:solidFill>
            <a:prstDash val="solid"/>
            <a:round/>
            <a:tailEnd type="triangle" w="med" len="med"/>
          </a:ln>
        </p:spPr>
      </p:cxnSp>
      <p:sp>
        <p:nvSpPr>
          <p:cNvPr id="31" name="Direct gauge context"/>
          <p:cNvSpPr/>
          <p:nvPr/>
        </p:nvSpPr>
        <p:spPr>
          <a:xfrm>
            <a:off x="9024776" y="4452024"/>
            <a:ext cx="1440000" cy="720000"/>
          </a:xfrm>
          <a:prstGeom prst="roundRect">
            <a:avLst/>
          </a:prstGeom>
          <a:solidFill>
            <a:srgbClr val="FFF0D8"/>
          </a:solidFill>
          <a:ln w="16510">
            <a:solidFill>
              <a:srgbClr val="D9822B"/>
            </a:solidFill>
            <a:prstDash val="solid"/>
            <a:round/>
          </a:ln>
        </p:spPr>
        <p:txBody>
          <a:bodyPr wrap="square" lIns="41148" tIns="41148" rIns="41148" bIns="41148" anchor="ctr">
            <a:normAutofit/>
          </a:bodyPr>
          <a:lstStyle/>
          <a:p>
            <a:pPr algn="ctr">
              <a:buNone/>
            </a:pPr>
            <a:r>
              <a:rPr lang="en-US" sz="1200" b="1" dirty="0">
                <a:solidFill>
                  <a:srgbClr val="25313C"/>
                </a:solidFill>
                <a:latin typeface="Arial"/>
                <a:ea typeface="Arial"/>
                <a:cs typeface="Arial"/>
              </a:rPr>
              <a:t>Issuance-time</a:t>
            </a:r>
            <a:endParaRPr lang="en-US" sz="1200" b="1" dirty="0"/>
          </a:p>
          <a:p>
            <a:pPr algn="ctr">
              <a:buNone/>
            </a:pPr>
            <a:r>
              <a:rPr lang="en-US" sz="1200" b="1" dirty="0">
                <a:solidFill>
                  <a:srgbClr val="25313C"/>
                </a:solidFill>
                <a:latin typeface="Arial"/>
                <a:ea typeface="Arial"/>
                <a:cs typeface="Arial"/>
              </a:rPr>
              <a:t>gauge context</a:t>
            </a:r>
            <a:endParaRPr lang="en-US" sz="1200" b="1" dirty="0"/>
          </a:p>
        </p:txBody>
      </p:sp>
      <p:sp>
        <p:nvSpPr>
          <p:cNvPr id="33" name="Direct historical gauge targets"/>
          <p:cNvSpPr/>
          <p:nvPr/>
        </p:nvSpPr>
        <p:spPr>
          <a:xfrm>
            <a:off x="6864776" y="4452024"/>
            <a:ext cx="1440000" cy="720000"/>
          </a:xfrm>
          <a:prstGeom prst="roundRect">
            <a:avLst/>
          </a:prstGeom>
          <a:solidFill>
            <a:srgbClr val="FFFFFF"/>
          </a:solidFill>
          <a:ln w="16510">
            <a:solidFill>
              <a:srgbClr val="7B5EA7"/>
            </a:solidFill>
            <a:prstDash val="solid"/>
            <a:round/>
          </a:ln>
        </p:spPr>
        <p:txBody>
          <a:bodyPr wrap="square" lIns="41148" tIns="41148" rIns="41148" bIns="41148" anchor="ctr">
            <a:normAutofit/>
          </a:bodyPr>
          <a:lstStyle/>
          <a:p>
            <a:pPr algn="ctr">
              <a:buNone/>
            </a:pPr>
            <a:r>
              <a:rPr lang="en-US" sz="1200" b="1" dirty="0">
                <a:solidFill>
                  <a:srgbClr val="25313C"/>
                </a:solidFill>
                <a:latin typeface="Arial"/>
                <a:ea typeface="Arial"/>
                <a:cs typeface="Arial"/>
              </a:rPr>
              <a:t>Historical gauge</a:t>
            </a:r>
            <a:endParaRPr lang="en-US" sz="1200" b="1" dirty="0"/>
          </a:p>
          <a:p>
            <a:pPr algn="ctr">
              <a:buNone/>
            </a:pPr>
            <a:r>
              <a:rPr lang="en-US" sz="1200" b="1" dirty="0">
                <a:solidFill>
                  <a:srgbClr val="25313C"/>
                </a:solidFill>
                <a:latin typeface="Arial"/>
                <a:ea typeface="Arial"/>
                <a:cs typeface="Arial"/>
              </a:rPr>
              <a:t>targets</a:t>
            </a:r>
            <a:endParaRPr lang="en-US" sz="1200" b="1" dirty="0"/>
          </a:p>
        </p:txBody>
      </p:sp>
      <p:sp>
        <p:nvSpPr>
          <p:cNvPr id="36" name="Panel b background"/>
          <p:cNvSpPr/>
          <p:nvPr/>
        </p:nvSpPr>
        <p:spPr>
          <a:xfrm>
            <a:off x="1172816" y="5582496"/>
            <a:ext cx="14174256" cy="3752613"/>
          </a:xfrm>
          <a:prstGeom prst="roundRect">
            <a:avLst>
              <a:gd name="adj" fmla="val 0"/>
            </a:avLst>
          </a:prstGeom>
          <a:solidFill>
            <a:srgbClr val="F7F8FA"/>
          </a:solidFill>
          <a:ln w="12700">
            <a:solidFill>
              <a:srgbClr val="C8CFD6"/>
            </a:solidFill>
            <a:prstDash val="solid"/>
            <a:round/>
          </a:ln>
        </p:spPr>
        <p:txBody>
          <a:bodyPr wrap="square" lIns="41148" tIns="41148" rIns="41148" bIns="41148" anchor="ctr">
            <a:normAutofit/>
          </a:bodyPr>
          <a:lstStyle/>
          <a:p>
            <a:pPr algn="ctr">
              <a:buNone/>
            </a:pPr>
            <a:r>
              <a:rPr lang="en-US" sz="900" dirty="0">
                <a:solidFill>
                  <a:srgbClr val="25313C"/>
                </a:solidFill>
                <a:latin typeface="Arial"/>
                <a:ea typeface="Arial"/>
                <a:cs typeface="Arial"/>
              </a:rPr>
              <a:t> </a:t>
            </a:r>
            <a:endParaRPr lang="en-US" sz="900" dirty="0"/>
          </a:p>
        </p:txBody>
      </p:sp>
      <p:sp>
        <p:nvSpPr>
          <p:cNvPr id="37" name="Panel b label"/>
          <p:cNvSpPr txBox="1"/>
          <p:nvPr/>
        </p:nvSpPr>
        <p:spPr>
          <a:xfrm>
            <a:off x="1355696" y="5721746"/>
            <a:ext cx="438912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>
              <a:buNone/>
            </a:pPr>
            <a:r>
              <a:rPr lang="en-US" sz="1600" b="1" dirty="0">
                <a:solidFill>
                  <a:srgbClr val="25313C"/>
                </a:solidFill>
                <a:latin typeface="+mn-lt"/>
                <a:ea typeface="나눔스퀘어 Bold" panose="020B0600000101010101" pitchFamily="50" charset="-127"/>
                <a:cs typeface="Arial"/>
              </a:rPr>
              <a:t>(b)</a:t>
            </a:r>
            <a:endParaRPr lang="en-US" sz="1600" b="1" dirty="0">
              <a:latin typeface="+mn-lt"/>
              <a:ea typeface="나눔스퀘어 Bold" panose="020B0600000101010101" pitchFamily="50" charset="-127"/>
            </a:endParaRPr>
          </a:p>
        </p:txBody>
      </p:sp>
      <p:sp>
        <p:nvSpPr>
          <p:cNvPr id="38" name="Panel b title"/>
          <p:cNvSpPr txBox="1"/>
          <p:nvPr/>
        </p:nvSpPr>
        <p:spPr>
          <a:xfrm>
            <a:off x="1812896" y="5721746"/>
            <a:ext cx="10800000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>
              <a:buNone/>
            </a:pPr>
            <a:r>
              <a:rPr lang="en-US" sz="1600" b="1" dirty="0">
                <a:solidFill>
                  <a:srgbClr val="25313C"/>
                </a:solidFill>
                <a:latin typeface="+mn-lt"/>
                <a:ea typeface="나눔스퀘어 Bold" panose="020B0600000101010101" pitchFamily="50" charset="-127"/>
                <a:cs typeface="Arial"/>
              </a:rPr>
              <a:t>Direct R2P architecture</a:t>
            </a:r>
            <a:endParaRPr lang="en-US" sz="1600" b="1" dirty="0">
              <a:latin typeface="+mn-lt"/>
              <a:ea typeface="나눔스퀘어 Bold" panose="020B0600000101010101" pitchFamily="50" charset="-127"/>
            </a:endParaRPr>
          </a:p>
        </p:txBody>
      </p:sp>
      <p:sp>
        <p:nvSpPr>
          <p:cNvPr id="39" name="Detail radar history"/>
          <p:cNvSpPr/>
          <p:nvPr/>
        </p:nvSpPr>
        <p:spPr>
          <a:xfrm>
            <a:off x="2544776" y="6396024"/>
            <a:ext cx="1440000" cy="720000"/>
          </a:xfrm>
          <a:prstGeom prst="roundRect">
            <a:avLst/>
          </a:prstGeom>
          <a:solidFill>
            <a:srgbClr val="DCECF7"/>
          </a:solidFill>
          <a:ln w="16510">
            <a:solidFill>
              <a:srgbClr val="2878B5"/>
            </a:solidFill>
            <a:prstDash val="solid"/>
            <a:round/>
          </a:ln>
        </p:spPr>
        <p:txBody>
          <a:bodyPr wrap="square" lIns="41148" tIns="41148" rIns="41148" bIns="41148" anchor="ctr">
            <a:normAutofit/>
          </a:bodyPr>
          <a:lstStyle/>
          <a:p>
            <a:pPr algn="ctr">
              <a:buNone/>
            </a:pPr>
            <a:r>
              <a:rPr lang="en-US" sz="1200" b="1" dirty="0">
                <a:solidFill>
                  <a:srgbClr val="25313C"/>
                </a:solidFill>
                <a:latin typeface="+mn-lt"/>
                <a:ea typeface="나눔스퀘어 Bold" panose="020B0600000101010101" pitchFamily="50" charset="-127"/>
                <a:cs typeface="Arial"/>
              </a:rPr>
              <a:t>Radar</a:t>
            </a:r>
            <a:endParaRPr lang="en-US" sz="1200" b="1" dirty="0">
              <a:latin typeface="+mn-lt"/>
              <a:ea typeface="나눔스퀘어 Bold" panose="020B0600000101010101" pitchFamily="50" charset="-127"/>
            </a:endParaRPr>
          </a:p>
          <a:p>
            <a:pPr algn="ctr">
              <a:buNone/>
            </a:pPr>
            <a:r>
              <a:rPr lang="en-US" sz="1200" b="1" dirty="0">
                <a:solidFill>
                  <a:srgbClr val="25313C"/>
                </a:solidFill>
                <a:latin typeface="+mn-lt"/>
                <a:ea typeface="나눔스퀘어 Bold" panose="020B0600000101010101" pitchFamily="50" charset="-127"/>
                <a:cs typeface="Arial"/>
              </a:rPr>
              <a:t>history</a:t>
            </a:r>
            <a:endParaRPr lang="en-US" sz="1200" b="1" dirty="0">
              <a:latin typeface="+mn-lt"/>
              <a:ea typeface="나눔스퀘어 Bold" panose="020B0600000101010101" pitchFamily="50" charset="-127"/>
            </a:endParaRPr>
          </a:p>
        </p:txBody>
      </p:sp>
      <p:sp>
        <p:nvSpPr>
          <p:cNvPr id="40" name="Radar temporal encoder"/>
          <p:cNvSpPr/>
          <p:nvPr/>
        </p:nvSpPr>
        <p:spPr>
          <a:xfrm>
            <a:off x="4704776" y="6396024"/>
            <a:ext cx="1440000" cy="720000"/>
          </a:xfrm>
          <a:prstGeom prst="roundRect">
            <a:avLst/>
          </a:prstGeom>
          <a:solidFill>
            <a:srgbClr val="DCECF7"/>
          </a:solidFill>
          <a:ln w="16510">
            <a:solidFill>
              <a:srgbClr val="2878B5"/>
            </a:solidFill>
            <a:prstDash val="solid"/>
            <a:round/>
          </a:ln>
        </p:spPr>
        <p:txBody>
          <a:bodyPr wrap="square" lIns="41148" tIns="41148" rIns="41148" bIns="41148" anchor="ctr">
            <a:normAutofit/>
          </a:bodyPr>
          <a:lstStyle/>
          <a:p>
            <a:pPr algn="ctr">
              <a:buNone/>
            </a:pPr>
            <a:r>
              <a:rPr lang="en-US" sz="1200" b="1" dirty="0">
                <a:solidFill>
                  <a:srgbClr val="25313C"/>
                </a:solidFill>
                <a:latin typeface="+mn-lt"/>
                <a:ea typeface="나눔스퀘어 Bold" panose="020B0600000101010101" pitchFamily="50" charset="-127"/>
                <a:cs typeface="Arial"/>
              </a:rPr>
              <a:t>Conv stem</a:t>
            </a:r>
            <a:endParaRPr lang="en-US" sz="1200" b="1" dirty="0">
              <a:latin typeface="+mn-lt"/>
              <a:ea typeface="나눔스퀘어 Bold" panose="020B0600000101010101" pitchFamily="50" charset="-127"/>
            </a:endParaRPr>
          </a:p>
          <a:p>
            <a:pPr algn="ctr">
              <a:buNone/>
            </a:pPr>
            <a:r>
              <a:rPr lang="en-US" sz="1200" b="1" dirty="0">
                <a:solidFill>
                  <a:srgbClr val="25313C"/>
                </a:solidFill>
                <a:latin typeface="+mn-lt"/>
                <a:ea typeface="나눔스퀘어 Bold" panose="020B0600000101010101" pitchFamily="50" charset="-127"/>
                <a:cs typeface="Arial"/>
              </a:rPr>
              <a:t>+ ConvGRU</a:t>
            </a:r>
            <a:endParaRPr lang="en-US" sz="1200" b="1" dirty="0">
              <a:latin typeface="+mn-lt"/>
              <a:ea typeface="나눔스퀘어 Bold" panose="020B0600000101010101" pitchFamily="50" charset="-127"/>
            </a:endParaRPr>
          </a:p>
        </p:txBody>
      </p:sp>
      <p:sp>
        <p:nvSpPr>
          <p:cNvPr id="41" name="Radar multiscale pyramid"/>
          <p:cNvSpPr/>
          <p:nvPr/>
        </p:nvSpPr>
        <p:spPr>
          <a:xfrm>
            <a:off x="6864776" y="6396024"/>
            <a:ext cx="1440000" cy="720000"/>
          </a:xfrm>
          <a:prstGeom prst="roundRect">
            <a:avLst/>
          </a:prstGeom>
          <a:solidFill>
            <a:srgbClr val="DCECF7"/>
          </a:solidFill>
          <a:ln w="16510">
            <a:solidFill>
              <a:srgbClr val="2878B5"/>
            </a:solidFill>
            <a:prstDash val="solid"/>
            <a:round/>
          </a:ln>
        </p:spPr>
        <p:txBody>
          <a:bodyPr wrap="square" lIns="41148" tIns="41148" rIns="41148" bIns="41148" anchor="ctr">
            <a:normAutofit/>
          </a:bodyPr>
          <a:lstStyle/>
          <a:p>
            <a:pPr algn="ctr">
              <a:buNone/>
            </a:pPr>
            <a:r>
              <a:rPr lang="en-US" sz="1200" b="1" dirty="0">
                <a:solidFill>
                  <a:srgbClr val="25313C"/>
                </a:solidFill>
                <a:latin typeface="+mn-lt"/>
                <a:ea typeface="나눔스퀘어 Bold" panose="020B0600000101010101" pitchFamily="50" charset="-127"/>
                <a:cs typeface="Arial"/>
              </a:rPr>
              <a:t>Multiscale</a:t>
            </a:r>
            <a:endParaRPr lang="en-US" sz="1200" b="1" dirty="0">
              <a:latin typeface="+mn-lt"/>
              <a:ea typeface="나눔스퀘어 Bold" panose="020B0600000101010101" pitchFamily="50" charset="-127"/>
            </a:endParaRPr>
          </a:p>
          <a:p>
            <a:pPr algn="ctr">
              <a:buNone/>
            </a:pPr>
            <a:r>
              <a:rPr lang="en-US" sz="1200" b="1" dirty="0">
                <a:solidFill>
                  <a:srgbClr val="25313C"/>
                </a:solidFill>
                <a:latin typeface="+mn-lt"/>
                <a:ea typeface="나눔스퀘어 Bold" panose="020B0600000101010101" pitchFamily="50" charset="-127"/>
                <a:cs typeface="Arial"/>
              </a:rPr>
              <a:t>pyramid</a:t>
            </a:r>
            <a:endParaRPr lang="en-US" sz="1200" b="1" dirty="0">
              <a:latin typeface="+mn-lt"/>
              <a:ea typeface="나눔스퀘어 Bold" panose="020B0600000101010101" pitchFamily="50" charset="-127"/>
            </a:endParaRPr>
          </a:p>
        </p:txBody>
      </p:sp>
      <p:cxnSp>
        <p:nvCxnSpPr>
          <p:cNvPr id="42" name="Radar history to encoder segment 1"/>
          <p:cNvCxnSpPr>
            <a:cxnSpLocks/>
            <a:stCxn id="39" idx="3"/>
            <a:endCxn id="40" idx="1"/>
          </p:cNvCxnSpPr>
          <p:nvPr/>
        </p:nvCxnSpPr>
        <p:spPr>
          <a:xfrm>
            <a:off x="3984776" y="6756024"/>
            <a:ext cx="720000" cy="0"/>
          </a:xfrm>
          <a:prstGeom prst="line">
            <a:avLst/>
          </a:prstGeom>
          <a:ln w="19685">
            <a:solidFill>
              <a:srgbClr val="2878B5"/>
            </a:solidFill>
            <a:prstDash val="solid"/>
            <a:round/>
            <a:tailEnd type="triangle" w="med" len="med"/>
          </a:ln>
        </p:spPr>
      </p:cxnSp>
      <p:cxnSp>
        <p:nvCxnSpPr>
          <p:cNvPr id="43" name="Encoder to pyramid segment 1"/>
          <p:cNvCxnSpPr>
            <a:cxnSpLocks/>
            <a:stCxn id="40" idx="3"/>
            <a:endCxn id="41" idx="1"/>
          </p:cNvCxnSpPr>
          <p:nvPr/>
        </p:nvCxnSpPr>
        <p:spPr>
          <a:xfrm>
            <a:off x="6144776" y="6756024"/>
            <a:ext cx="720000" cy="0"/>
          </a:xfrm>
          <a:prstGeom prst="line">
            <a:avLst/>
          </a:prstGeom>
          <a:ln w="19685">
            <a:solidFill>
              <a:srgbClr val="2878B5"/>
            </a:solidFill>
            <a:prstDash val="solid"/>
            <a:round/>
            <a:tailEnd type="triangle" w="med" len="med"/>
          </a:ln>
        </p:spPr>
      </p:cxnSp>
      <p:sp>
        <p:nvSpPr>
          <p:cNvPr id="44" name="Detail gauge context"/>
          <p:cNvSpPr/>
          <p:nvPr/>
        </p:nvSpPr>
        <p:spPr>
          <a:xfrm>
            <a:off x="2544776" y="8196024"/>
            <a:ext cx="1440000" cy="720000"/>
          </a:xfrm>
          <a:prstGeom prst="roundRect">
            <a:avLst/>
          </a:prstGeom>
          <a:solidFill>
            <a:srgbClr val="FFF0D8"/>
          </a:solidFill>
          <a:ln w="16510">
            <a:solidFill>
              <a:srgbClr val="D9822B"/>
            </a:solidFill>
            <a:prstDash val="solid"/>
            <a:round/>
          </a:ln>
        </p:spPr>
        <p:txBody>
          <a:bodyPr wrap="square" lIns="41148" tIns="41148" rIns="41148" bIns="41148" anchor="ctr">
            <a:normAutofit/>
          </a:bodyPr>
          <a:lstStyle/>
          <a:p>
            <a:pPr algn="ctr">
              <a:buNone/>
            </a:pPr>
            <a:r>
              <a:rPr lang="en-US" sz="1200" b="1" dirty="0">
                <a:solidFill>
                  <a:srgbClr val="25313C"/>
                </a:solidFill>
                <a:latin typeface="+mn-lt"/>
                <a:ea typeface="나눔스퀘어 Bold" panose="020B0600000101010101" pitchFamily="50" charset="-127"/>
                <a:cs typeface="Arial"/>
              </a:rPr>
              <a:t>Issuance-time</a:t>
            </a:r>
            <a:endParaRPr lang="en-US" sz="1200" b="1" dirty="0">
              <a:latin typeface="+mn-lt"/>
              <a:ea typeface="나눔스퀘어 Bold" panose="020B0600000101010101" pitchFamily="50" charset="-127"/>
            </a:endParaRPr>
          </a:p>
          <a:p>
            <a:pPr algn="ctr">
              <a:buNone/>
            </a:pPr>
            <a:r>
              <a:rPr lang="en-US" sz="1200" b="1" dirty="0">
                <a:solidFill>
                  <a:srgbClr val="25313C"/>
                </a:solidFill>
                <a:latin typeface="+mn-lt"/>
                <a:ea typeface="나눔스퀘어 Bold" panose="020B0600000101010101" pitchFamily="50" charset="-127"/>
                <a:cs typeface="Arial"/>
              </a:rPr>
              <a:t>gauge context</a:t>
            </a:r>
            <a:endParaRPr lang="en-US" sz="1200" b="1" dirty="0">
              <a:latin typeface="+mn-lt"/>
              <a:ea typeface="나눔스퀘어 Bold" panose="020B0600000101010101" pitchFamily="50" charset="-127"/>
            </a:endParaRPr>
          </a:p>
        </p:txBody>
      </p:sp>
      <p:sp>
        <p:nvSpPr>
          <p:cNvPr id="45" name="Station encoder"/>
          <p:cNvSpPr/>
          <p:nvPr/>
        </p:nvSpPr>
        <p:spPr>
          <a:xfrm>
            <a:off x="4704776" y="8196024"/>
            <a:ext cx="1440000" cy="720000"/>
          </a:xfrm>
          <a:prstGeom prst="roundRect">
            <a:avLst/>
          </a:prstGeom>
          <a:solidFill>
            <a:srgbClr val="FFF0D8"/>
          </a:solidFill>
          <a:ln w="16510">
            <a:solidFill>
              <a:srgbClr val="D9822B"/>
            </a:solidFill>
            <a:prstDash val="solid"/>
            <a:round/>
          </a:ln>
        </p:spPr>
        <p:txBody>
          <a:bodyPr wrap="square" lIns="41148" tIns="41148" rIns="41148" bIns="41148" anchor="ctr">
            <a:normAutofit/>
          </a:bodyPr>
          <a:lstStyle/>
          <a:p>
            <a:pPr algn="ctr">
              <a:buNone/>
            </a:pPr>
            <a:r>
              <a:rPr lang="en-US" sz="1200" b="1" dirty="0">
                <a:solidFill>
                  <a:srgbClr val="25313C"/>
                </a:solidFill>
                <a:latin typeface="+mn-lt"/>
                <a:ea typeface="나눔스퀘어 Bold" panose="020B0600000101010101" pitchFamily="50" charset="-127"/>
                <a:cs typeface="Arial"/>
              </a:rPr>
              <a:t>Station</a:t>
            </a:r>
            <a:endParaRPr lang="en-US" sz="1200" b="1" dirty="0">
              <a:latin typeface="+mn-lt"/>
              <a:ea typeface="나눔스퀘어 Bold" panose="020B0600000101010101" pitchFamily="50" charset="-127"/>
            </a:endParaRPr>
          </a:p>
          <a:p>
            <a:pPr algn="ctr">
              <a:buNone/>
            </a:pPr>
            <a:r>
              <a:rPr lang="en-US" sz="1200" b="1" dirty="0">
                <a:solidFill>
                  <a:srgbClr val="25313C"/>
                </a:solidFill>
                <a:latin typeface="+mn-lt"/>
                <a:ea typeface="나눔스퀘어 Bold" panose="020B0600000101010101" pitchFamily="50" charset="-127"/>
                <a:cs typeface="Arial"/>
              </a:rPr>
              <a:t>encoder</a:t>
            </a:r>
            <a:endParaRPr lang="en-US" sz="1200" b="1" dirty="0">
              <a:latin typeface="+mn-lt"/>
              <a:ea typeface="나눔스퀘어 Bold" panose="020B0600000101010101" pitchFamily="50" charset="-127"/>
            </a:endParaRPr>
          </a:p>
        </p:txBody>
      </p:sp>
      <p:cxnSp>
        <p:nvCxnSpPr>
          <p:cNvPr id="46" name="Gauge context to station encoder segment 1"/>
          <p:cNvCxnSpPr>
            <a:cxnSpLocks/>
            <a:stCxn id="44" idx="3"/>
            <a:endCxn id="45" idx="1"/>
          </p:cNvCxnSpPr>
          <p:nvPr/>
        </p:nvCxnSpPr>
        <p:spPr>
          <a:xfrm>
            <a:off x="3984776" y="8556024"/>
            <a:ext cx="720000" cy="0"/>
          </a:xfrm>
          <a:prstGeom prst="line">
            <a:avLst/>
          </a:prstGeom>
          <a:ln w="19685">
            <a:solidFill>
              <a:srgbClr val="D9822B"/>
            </a:solidFill>
            <a:prstDash val="solid"/>
            <a:round/>
            <a:tailEnd type="triangle" w="med" len="med"/>
          </a:ln>
        </p:spPr>
      </p:cxnSp>
      <p:sp>
        <p:nvSpPr>
          <p:cNvPr id="47" name="Query conditioned attention"/>
          <p:cNvSpPr/>
          <p:nvPr/>
        </p:nvSpPr>
        <p:spPr>
          <a:xfrm>
            <a:off x="9024776" y="7296024"/>
            <a:ext cx="1440000" cy="720000"/>
          </a:xfrm>
          <a:prstGeom prst="roundRect">
            <a:avLst/>
          </a:prstGeom>
          <a:solidFill>
            <a:srgbClr val="E5E7EE"/>
          </a:solidFill>
          <a:ln w="16510">
            <a:solidFill>
              <a:srgbClr val="59647F"/>
            </a:solidFill>
            <a:prstDash val="solid"/>
            <a:round/>
          </a:ln>
        </p:spPr>
        <p:txBody>
          <a:bodyPr wrap="square" lIns="41148" tIns="41148" rIns="41148" bIns="41148" anchor="ctr">
            <a:normAutofit/>
          </a:bodyPr>
          <a:lstStyle/>
          <a:p>
            <a:pPr algn="ctr">
              <a:buNone/>
            </a:pPr>
            <a:r>
              <a:rPr lang="en-US" sz="1200" b="1" dirty="0">
                <a:solidFill>
                  <a:srgbClr val="25313C"/>
                </a:solidFill>
                <a:latin typeface="+mn-lt"/>
                <a:ea typeface="나눔스퀘어 Bold" panose="020B0600000101010101" pitchFamily="50" charset="-127"/>
                <a:cs typeface="Arial"/>
              </a:rPr>
              <a:t>Query-</a:t>
            </a:r>
            <a:endParaRPr lang="en-US" sz="1200" b="1" dirty="0">
              <a:latin typeface="+mn-lt"/>
              <a:ea typeface="나눔스퀘어 Bold" panose="020B0600000101010101" pitchFamily="50" charset="-127"/>
            </a:endParaRPr>
          </a:p>
          <a:p>
            <a:pPr algn="ctr">
              <a:buNone/>
            </a:pPr>
            <a:r>
              <a:rPr lang="en-US" sz="1200" b="1" dirty="0">
                <a:solidFill>
                  <a:srgbClr val="25313C"/>
                </a:solidFill>
                <a:latin typeface="+mn-lt"/>
                <a:ea typeface="나눔스퀘어 Bold" panose="020B0600000101010101" pitchFamily="50" charset="-127"/>
                <a:cs typeface="Arial"/>
              </a:rPr>
              <a:t>conditioned</a:t>
            </a:r>
            <a:endParaRPr lang="en-US" sz="1200" b="1" dirty="0">
              <a:latin typeface="+mn-lt"/>
              <a:ea typeface="나눔스퀘어 Bold" panose="020B0600000101010101" pitchFamily="50" charset="-127"/>
            </a:endParaRPr>
          </a:p>
          <a:p>
            <a:pPr algn="ctr">
              <a:buNone/>
            </a:pPr>
            <a:r>
              <a:rPr lang="en-US" sz="1200" b="1" dirty="0">
                <a:solidFill>
                  <a:srgbClr val="25313C"/>
                </a:solidFill>
                <a:latin typeface="+mn-lt"/>
                <a:ea typeface="나눔스퀘어 Bold" panose="020B0600000101010101" pitchFamily="50" charset="-127"/>
                <a:cs typeface="Arial"/>
              </a:rPr>
              <a:t>attention</a:t>
            </a:r>
            <a:endParaRPr lang="en-US" sz="1200" b="1" dirty="0">
              <a:latin typeface="+mn-lt"/>
              <a:ea typeface="나눔스퀘어 Bold" panose="020B0600000101010101" pitchFamily="50" charset="-127"/>
            </a:endParaRPr>
          </a:p>
        </p:txBody>
      </p:sp>
      <p:sp>
        <p:nvSpPr>
          <p:cNvPr id="53" name="Location and lead connector annotation"/>
          <p:cNvSpPr txBox="1"/>
          <p:nvPr/>
        </p:nvSpPr>
        <p:spPr>
          <a:xfrm>
            <a:off x="6922136" y="8269277"/>
            <a:ext cx="2084832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>
              <a:buNone/>
            </a:pPr>
            <a:r>
              <a:rPr lang="en-US" sz="1200" b="1" dirty="0">
                <a:solidFill>
                  <a:srgbClr val="D9822B"/>
                </a:solidFill>
                <a:latin typeface="Arial"/>
                <a:ea typeface="Arial"/>
                <a:cs typeface="Arial"/>
              </a:rPr>
              <a:t>+ </a:t>
            </a:r>
            <a:r>
              <a:rPr lang="en-US" sz="1200" b="1">
                <a:solidFill>
                  <a:srgbClr val="D9822B"/>
                </a:solidFill>
                <a:latin typeface="Arial"/>
                <a:ea typeface="Arial"/>
                <a:cs typeface="Arial"/>
              </a:rPr>
              <a:t>Location and </a:t>
            </a:r>
            <a:r>
              <a:rPr lang="en-US" sz="1200" b="1" dirty="0">
                <a:solidFill>
                  <a:srgbClr val="D9822B"/>
                </a:solidFill>
                <a:latin typeface="Arial"/>
                <a:ea typeface="Arial"/>
                <a:cs typeface="Arial"/>
              </a:rPr>
              <a:t>L</a:t>
            </a:r>
            <a:r>
              <a:rPr lang="en-US" sz="1200" b="1">
                <a:solidFill>
                  <a:srgbClr val="D9822B"/>
                </a:solidFill>
                <a:latin typeface="Arial"/>
                <a:ea typeface="Arial"/>
                <a:cs typeface="Arial"/>
              </a:rPr>
              <a:t>ead</a:t>
            </a:r>
            <a:endParaRPr lang="en-US" sz="1200" b="1" dirty="0"/>
          </a:p>
        </p:txBody>
      </p:sp>
      <p:sp>
        <p:nvSpPr>
          <p:cNvPr id="54" name="Cross lead decoder"/>
          <p:cNvSpPr/>
          <p:nvPr/>
        </p:nvSpPr>
        <p:spPr>
          <a:xfrm>
            <a:off x="11184776" y="7296024"/>
            <a:ext cx="1440000" cy="720000"/>
          </a:xfrm>
          <a:prstGeom prst="roundRect">
            <a:avLst/>
          </a:prstGeom>
          <a:solidFill>
            <a:srgbClr val="E5E7EE"/>
          </a:solidFill>
          <a:ln w="16510">
            <a:solidFill>
              <a:srgbClr val="59647F"/>
            </a:solidFill>
            <a:prstDash val="solid"/>
            <a:round/>
          </a:ln>
        </p:spPr>
        <p:txBody>
          <a:bodyPr wrap="square" lIns="41148" tIns="41148" rIns="41148" bIns="41148" anchor="ctr">
            <a:normAutofit/>
          </a:bodyPr>
          <a:lstStyle/>
          <a:p>
            <a:pPr algn="ctr">
              <a:buNone/>
            </a:pPr>
            <a:r>
              <a:rPr lang="en-US" sz="1200" b="1" dirty="0">
                <a:solidFill>
                  <a:srgbClr val="25313C"/>
                </a:solidFill>
                <a:latin typeface="+mn-lt"/>
                <a:ea typeface="나눔스퀘어 Bold" panose="020B0600000101010101" pitchFamily="50" charset="-127"/>
                <a:cs typeface="Arial"/>
              </a:rPr>
              <a:t>Cross-lead</a:t>
            </a:r>
            <a:endParaRPr lang="en-US" sz="1200" b="1" dirty="0">
              <a:latin typeface="+mn-lt"/>
              <a:ea typeface="나눔스퀘어 Bold" panose="020B0600000101010101" pitchFamily="50" charset="-127"/>
            </a:endParaRPr>
          </a:p>
          <a:p>
            <a:pPr algn="ctr">
              <a:buNone/>
            </a:pPr>
            <a:r>
              <a:rPr lang="en-US" sz="1200" b="1" dirty="0">
                <a:solidFill>
                  <a:srgbClr val="25313C"/>
                </a:solidFill>
                <a:latin typeface="+mn-lt"/>
                <a:ea typeface="나눔스퀘어 Bold" panose="020B0600000101010101" pitchFamily="50" charset="-127"/>
                <a:cs typeface="Arial"/>
              </a:rPr>
              <a:t>decoder</a:t>
            </a:r>
            <a:endParaRPr lang="en-US" sz="1200" b="1" dirty="0">
              <a:latin typeface="+mn-lt"/>
              <a:ea typeface="나눔스퀘어 Bold" panose="020B0600000101010101" pitchFamily="50" charset="-127"/>
            </a:endParaRPr>
          </a:p>
        </p:txBody>
      </p:sp>
      <p:cxnSp>
        <p:nvCxnSpPr>
          <p:cNvPr id="55" name="Attention to decoder segment 1"/>
          <p:cNvCxnSpPr>
            <a:cxnSpLocks/>
            <a:stCxn id="47" idx="3"/>
            <a:endCxn id="54" idx="1"/>
          </p:cNvCxnSpPr>
          <p:nvPr/>
        </p:nvCxnSpPr>
        <p:spPr>
          <a:xfrm>
            <a:off x="10464776" y="7656024"/>
            <a:ext cx="720000" cy="0"/>
          </a:xfrm>
          <a:prstGeom prst="line">
            <a:avLst/>
          </a:prstGeom>
          <a:ln w="19685">
            <a:solidFill>
              <a:srgbClr val="59647F"/>
            </a:solidFill>
            <a:prstDash val="solid"/>
            <a:round/>
            <a:tailEnd type="triangle" w="med" len="med"/>
          </a:ln>
        </p:spPr>
      </p:cxnSp>
      <p:sp>
        <p:nvSpPr>
          <p:cNvPr id="56" name="Direct detail output"/>
          <p:cNvSpPr/>
          <p:nvPr/>
        </p:nvSpPr>
        <p:spPr>
          <a:xfrm>
            <a:off x="13344776" y="7296024"/>
            <a:ext cx="1440000" cy="720000"/>
          </a:xfrm>
          <a:prstGeom prst="roundRect">
            <a:avLst/>
          </a:prstGeom>
          <a:solidFill>
            <a:srgbClr val="F7F8FA"/>
          </a:solidFill>
          <a:ln w="16510">
            <a:solidFill>
              <a:srgbClr val="000000"/>
            </a:solidFill>
            <a:prstDash val="solid"/>
            <a:round/>
          </a:ln>
        </p:spPr>
        <p:txBody>
          <a:bodyPr wrap="square" lIns="41148" tIns="41148" rIns="41148" bIns="41148" anchor="ctr">
            <a:normAutofit/>
          </a:bodyPr>
          <a:lstStyle/>
          <a:p>
            <a:pPr algn="ctr">
              <a:buNone/>
            </a:pPr>
            <a:r>
              <a:rPr lang="en-US" sz="1200" b="1" dirty="0">
                <a:solidFill>
                  <a:srgbClr val="25313C"/>
                </a:solidFill>
                <a:latin typeface="Arial"/>
                <a:ea typeface="Arial"/>
                <a:cs typeface="Arial"/>
              </a:rPr>
              <a:t>Gauge RN60</a:t>
            </a:r>
            <a:endParaRPr lang="en-US" sz="1200" b="1" dirty="0"/>
          </a:p>
        </p:txBody>
      </p:sp>
      <p:cxnSp>
        <p:nvCxnSpPr>
          <p:cNvPr id="57" name="Decoder to RN60 segment 1"/>
          <p:cNvCxnSpPr>
            <a:cxnSpLocks/>
            <a:stCxn id="54" idx="3"/>
            <a:endCxn id="56" idx="1"/>
          </p:cNvCxnSpPr>
          <p:nvPr/>
        </p:nvCxnSpPr>
        <p:spPr>
          <a:xfrm>
            <a:off x="12624776" y="7656024"/>
            <a:ext cx="720000" cy="0"/>
          </a:xfrm>
          <a:prstGeom prst="line">
            <a:avLst/>
          </a:prstGeom>
          <a:ln w="19685">
            <a:solidFill>
              <a:srgbClr val="59647F"/>
            </a:solidFill>
            <a:prstDash val="solid"/>
            <a:round/>
            <a:tailEnd type="triangle" w="med" len="med"/>
          </a:ln>
        </p:spPr>
      </p:cxnSp>
      <p:cxnSp>
        <p:nvCxnSpPr>
          <p:cNvPr id="78" name="연결선: 꺾임 77">
            <a:extLst>
              <a:ext uri="{FF2B5EF4-FFF2-40B4-BE49-F238E27FC236}">
                <ns2:creationId id="{6A0D2B07-F577-7E10-DDF1-B69EE1A621BA}"/>
              </a:ext>
            </a:extLst>
          </p:cNvPr>
          <p:cNvCxnSpPr>
            <a:cxnSpLocks/>
          </p:cNvCxnSpPr>
          <p:nvPr/>
        </p:nvCxnSpPr>
        <p:spPr>
          <a:xfrm rot="16200000" flipV="1">
            <a:off x="9079200" y="3786024"/>
            <a:ext cx="360000" cy="972000"/>
          </a:xfrm>
          <a:prstGeom prst="bentConnector3">
            <a:avLst>
              <a:gd name="adj1" fmla="val 50000"/>
            </a:avLst>
          </a:prstGeom>
          <a:ln w="19685">
            <a:round/>
            <a:tailEnd type="triangle" w="med" len="med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81" name="연결선: 꺾임 80">
            <a:extLst>
              <a:ext uri="{FF2B5EF4-FFF2-40B4-BE49-F238E27FC236}">
                <ns2:creationId id="{3C499564-F96E-3AC6-BD36-9A99B828CCAC}"/>
              </a:ext>
            </a:extLst>
          </p:cNvPr>
          <p:cNvCxnSpPr>
            <a:cxnSpLocks/>
            <a:stCxn id="45" idx="3"/>
            <a:endCxn id="47" idx="2"/>
          </p:cNvCxnSpPr>
          <p:nvPr/>
        </p:nvCxnSpPr>
        <p:spPr>
          <a:xfrm flipV="1">
            <a:off x="6144776" y="8016024"/>
            <a:ext cx="3600000" cy="540000"/>
          </a:xfrm>
          <a:prstGeom prst="bentConnector2">
            <a:avLst/>
          </a:prstGeom>
          <a:ln w="19685">
            <a:round/>
            <a:tailEnd type="triangle" w="med" len="med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85" name="연결선: 꺾임 84">
            <a:extLst>
              <a:ext uri="{FF2B5EF4-FFF2-40B4-BE49-F238E27FC236}">
                <ns2:creationId id="{2945C1A9-2776-BBD2-BBA5-B58ED9D5E072}"/>
              </a:ext>
            </a:extLst>
          </p:cNvPr>
          <p:cNvCxnSpPr>
            <a:cxnSpLocks/>
            <a:stCxn id="41" idx="3"/>
            <a:endCxn id="47" idx="1"/>
          </p:cNvCxnSpPr>
          <p:nvPr/>
        </p:nvCxnSpPr>
        <p:spPr>
          <a:xfrm>
            <a:off x="8304776" y="6756024"/>
            <a:ext cx="720000" cy="900000"/>
          </a:xfrm>
          <a:prstGeom prst="bentConnector3">
            <a:avLst>
              <a:gd name="adj1" fmla="val 50000"/>
            </a:avLst>
          </a:prstGeom>
          <a:ln w="19685">
            <a:solidFill>
              <a:schemeClr val="accent1"/>
            </a:solidFill>
            <a:round/>
            <a:tailEnd type="triangle" w="med" len="med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112" name="연결선: 꺾임 111">
            <a:extLst>
              <a:ext uri="{FF2B5EF4-FFF2-40B4-BE49-F238E27FC236}">
                <ns2:creationId id="{F9BAE7A6-B2BF-FD99-E54D-24EA64B80293}"/>
              </a:ext>
            </a:extLst>
          </p:cNvPr>
          <p:cNvCxnSpPr>
            <a:cxnSpLocks/>
          </p:cNvCxnSpPr>
          <p:nvPr/>
        </p:nvCxnSpPr>
        <p:spPr>
          <a:xfrm rot="16200000" flipV="1">
            <a:off x="11779200" y="1745808"/>
            <a:ext cx="360432" cy="972000"/>
          </a:xfrm>
          <a:prstGeom prst="bentConnector3">
            <a:avLst>
              <a:gd name="adj1" fmla="val 50000"/>
            </a:avLst>
          </a:prstGeom>
          <a:ln w="19685">
            <a:round/>
            <a:tailEnd type="triangle" w="med" len="med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19" name="연결선: 꺾임 18">
            <a:extLst>
              <a:ext uri="{FF2B5EF4-FFF2-40B4-BE49-F238E27FC236}">
                <ns2:creationId id="{F3EF34EE-6C8A-6C13-0DFB-D685DD76CA01}"/>
              </a:ext>
            </a:extLst>
          </p:cNvPr>
          <p:cNvCxnSpPr>
            <a:cxnSpLocks/>
          </p:cNvCxnSpPr>
          <p:nvPr/>
        </p:nvCxnSpPr>
        <p:spPr>
          <a:xfrm rot="5400000" flipH="1" flipV="1">
            <a:off x="7891200" y="3786024"/>
            <a:ext cx="360000" cy="972000"/>
          </a:xfrm>
          <a:prstGeom prst="bentConnector3">
            <a:avLst>
              <a:gd name="adj1" fmla="val 50000"/>
            </a:avLst>
          </a:prstGeom>
          <a:ln w="19685">
            <a:solidFill>
              <a:srgbClr val="7B5EA7"/>
            </a:solidFill>
            <a:prstDash val="solid"/>
            <a:round/>
            <a:tailEnd type="triangle" w="med" len="med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20" name="연결선: 꺾임 19">
            <a:extLst>
              <a:ext uri="{FF2B5EF4-FFF2-40B4-BE49-F238E27FC236}">
                <ns2:creationId id="{3327AD5D-535E-5F23-2963-91BDDDBC8F87}"/>
              </a:ext>
            </a:extLst>
          </p:cNvPr>
          <p:cNvCxnSpPr>
            <a:cxnSpLocks/>
          </p:cNvCxnSpPr>
          <p:nvPr/>
        </p:nvCxnSpPr>
        <p:spPr>
          <a:xfrm rot="5400000" flipH="1" flipV="1">
            <a:off x="10591200" y="1745808"/>
            <a:ext cx="360432" cy="972000"/>
          </a:xfrm>
          <a:prstGeom prst="bentConnector3">
            <a:avLst>
              <a:gd name="adj1" fmla="val 50000"/>
            </a:avLst>
          </a:prstGeom>
          <a:ln w="19685">
            <a:solidFill>
              <a:srgbClr val="7B5EA7"/>
            </a:solidFill>
            <a:prstDash val="solid"/>
            <a:round/>
            <a:tailEnd type="triangle" w="med" len="med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</p:spTree>
  </p:cSld>
  <p:clrMapOvr>
    <a:masterClrMapping/>
  </p:clrMapOvr>
</p:sld>
</file>

<file path=ppt/theme/theme1.xml><?xml version="1.0" encoding="utf-8"?>
<a:theme xmlns:a="http://schemas.openxmlformats.org/drawingml/2006/main" name="Figure 6 editable theme">
  <a:themeElements>
    <a:clrScheme name="Figure 6">
      <a:dk1>
        <a:srgbClr val="25313C"/>
      </a:dk1>
      <a:lt1>
        <a:srgbClr val="FFFFFF"/>
      </a:lt1>
      <a:dk2>
        <a:srgbClr val="44546A"/>
      </a:dk2>
      <a:lt2>
        <a:srgbClr val="E7E6E6"/>
      </a:lt2>
      <a:accent1>
        <a:srgbClr val="2878B5"/>
      </a:accent1>
      <a:accent2>
        <a:srgbClr val="D9822B"/>
      </a:accent2>
      <a:accent3>
        <a:srgbClr val="D81B3A"/>
      </a:accent3>
      <a:accent4>
        <a:srgbClr val="008F7A"/>
      </a:accent4>
      <a:accent5>
        <a:srgbClr val="6B7075"/>
      </a:accent5>
      <a:accent6>
        <a:srgbClr val="708090"/>
      </a:accent6>
      <a:hlink>
        <a:srgbClr val="0563C1"/>
      </a:hlink>
      <a:folHlink>
        <a:srgbClr val="954F72"/>
      </a:folHlink>
    </a:clrScheme>
    <a:fontScheme name="Figure 6 Arial">
      <a:majorFont>
        <a:latin typeface="Arial"/>
        <a:ea typeface="Arial"/>
        <a:cs typeface="Arial"/>
      </a:majorFont>
      <a:minorFont>
        <a:latin typeface="Arial"/>
        <a:ea typeface="Arial"/>
        <a:cs typeface="Arial"/>
      </a:minorFont>
    </a:fontScheme>
    <a:fmtScheme name="Figure 6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100000">
              <a:schemeClr val="phClr">
                <a:shade val="51000"/>
                <a:satMod val="130000"/>
              </a:schemeClr>
            </a:gs>
          </a:gsLst>
          <a:lin ang="16200000" scaled="1"/>
        </a:gradFill>
        <a:solidFill>
          <a:schemeClr val="phClr">
            <a:tint val="95000"/>
            <a:satMod val="170000"/>
          </a:schemeClr>
        </a:soli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</a:schemeClr>
            </a:gs>
            <a:gs pos="100000">
              <a:schemeClr val="phClr">
                <a:tint val="98000"/>
                <a:satMod val="130000"/>
                <a:shade val="90000"/>
              </a:schemeClr>
            </a:gs>
          </a:gsLst>
          <a:lin ang="16200000" scaled="1"/>
        </a:gradFill>
      </a:bgFillStyleLst>
    </a:fmtScheme>
  </a:themeElements>
  <a:objectDefaults/>
  <a:extraClrSchemeLst/>
</a:theme>
</file>

<file path=docProps/app.xml><?xml version="1.0" encoding="utf-8"?>
<ns0:Properties xmlns:ns0="http://schemas.openxmlformats.org/officeDocument/2006/extended-properties" xmlns:vt="http://schemas.openxmlformats.org/officeDocument/2006/docPropsVTypes">
  <ns0:TotalTime>315</ns0:TotalTime>
  <ns0:Words>79</ns0:Words>
  <ns0:Application>Microsoft Office PowerPoint</ns0:Application>
  <ns0:PresentationFormat>사용자 지정</ns0:PresentationFormat>
  <ns0:Paragraphs>42</ns0:Paragraphs>
  <ns0:Slides>1</ns0:Slides>
  <ns0:Notes>0</ns0:Notes>
  <ns0:HiddenSlides>0</ns0:HiddenSlides>
  <ns0:MMClips>0</ns0:MMClips>
  <ns0:ScaleCrop>false</ns0:ScaleCrop>
  <ns0:HeadingPairs>
    <vt:vector size="6" baseType="variant">
      <vt:variant>
        <vt:lpstr>사용한 글꼴</vt:lpstr>
      </vt:variant>
      <vt:variant>
        <vt:i4>1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</vt:i4>
      </vt:variant>
    </vt:vector>
  </ns0:HeadingPairs>
  <ns0:TitlesOfParts>
    <vt:vector size="3" baseType="lpstr">
      <vt:lpstr>Arial</vt:lpstr>
      <vt:lpstr>Figure 6 editable theme</vt:lpstr>
      <vt:lpstr>PowerPoint 프레젠테이션</vt:lpstr>
    </vt:vector>
  </ns0:TitlesOfParts>
  <ns0:Company/>
  <ns0:LinksUpToDate>false</ns0:LinksUpToDate>
  <ns0:SharedDoc>false</ns0:SharedDoc>
  <ns0:HyperlinksChanged>false</ns0:HyperlinksChanged>
  <ns0:AppVersion>16.0000</ns0:AppVersion>
</ns0: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:title/>
  <dc:subject/>
  <dc:creator/>
  <cp:lastModifiedBy/>
  <cp:revision>1</cp:revision>
  <dcterms:created xsi:type="dcterms:W3CDTF">2000-01-01T00:00:00Z</dcterms:created>
  <dcterms:modified xsi:type="dcterms:W3CDTF">2000-01-01T00:00:00Z</dcterms:modified>
</cp:coreProperties>
</file>